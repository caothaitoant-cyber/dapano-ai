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NOI tăng thêm (tỷ đồng)</c:v>
                </c:pt>
              </c:strCache>
            </c:strRef>
          </c:tx>
          <c:spPr>
            <a:solidFill>
              <a:srgbClr val="5E067C"/>
            </a:solidFill>
            <a:effectLst/>
          </c:spPr>
          <c:invertIfNegative val="0"/>
          <c:dLbls>
            <c:numFmt formatCode="#,##0" sourceLinked="0"/>
            <c:txPr>
              <a:bodyPr/>
              <a:lstStyle/>
              <a:p>
                <a:pPr>
                  <a:defRPr b="1" i="0" strike="noStrike" sz="1500" u="none">
                    <a:solidFill>
                      <a:srgbClr val="1A0F4A"/>
                    </a:solidFill>
                    <a:latin typeface="Arial"/>
                  </a:defRPr>
                </a:pPr>
              </a:p>
            </c:txPr>
            <c:showLegendKey val="0"/>
            <c:showVal val="1"/>
            <c:showCatName val="0"/>
            <c:showSerName val="0"/>
            <c:showPercent val="0"/>
            <c:showBubbleSize val="0"/>
            <c:showLeaderLines val="0"/>
          </c:dLbls>
          <c:dPt>
            <c:idx val="0"/>
            <c:invertIfNegative val="0"/>
            <c:bubble3D val="0"/>
            <c:spPr>
              <a:solidFill>
                <a:srgbClr val="5E067C"/>
              </a:solidFill>
              <a:effectLst/>
            </c:spPr>
          </c:dPt>
          <c:dPt>
            <c:idx val="1"/>
            <c:invertIfNegative val="0"/>
            <c:bubble3D val="0"/>
            <c:spPr>
              <a:solidFill>
                <a:srgbClr val="5E067C"/>
              </a:solidFill>
              <a:effectLst/>
            </c:spPr>
          </c:dPt>
          <c:dPt>
            <c:idx val="2"/>
            <c:invertIfNegative val="0"/>
            <c:bubble3D val="0"/>
            <c:spPr>
              <a:solidFill>
                <a:srgbClr val="5E067C"/>
              </a:solidFill>
              <a:effectLst/>
            </c:spPr>
          </c:dPt>
          <c:cat>
            <c:multiLvlStrRef>
              <c:f>Sheet1!$A$2:$A$4</c:f>
              <c:multiLvlStrCache>
                <c:ptCount val="3"/>
                <c:lvl>
                  <c:pt idx="0">
                    <c:v>2026
T9–T12</c:v>
                  </c:pt>
                  <c:pt idx="1">
                    <c:v>2027
cả năm</c:v>
                  </c:pt>
                  <c:pt idx="2">
                    <c:v>2028
T1–T10</c:v>
                  </c:pt>
                </c:lvl>
              </c:multiLvlStrCache>
            </c:multiLvlStrRef>
          </c:cat>
          <c:val>
            <c:numRef>
              <c:f>Sheet1!$B$2:$B$4</c:f>
              <c:numCache>
                <c:formatCode>General</c:formatCode>
                <c:ptCount val="3"/>
                <c:pt idx="0">
                  <c:v>0.2</c:v>
                </c:pt>
                <c:pt idx="1">
                  <c:v>1.6</c:v>
                </c:pt>
                <c:pt idx="2">
                  <c:v>3.2</c:v>
                </c:pt>
              </c:numCache>
            </c:numRef>
          </c:val>
        </c:ser>
        <c:dLbls>
          <c:numFmt formatCode="#,##0" sourceLinked="0"/>
          <c:txPr>
            <a:bodyPr/>
            <a:lstStyle/>
            <a:p>
              <a:pPr>
                <a:defRPr b="1" i="0" strike="noStrike" sz="1500" u="none">
                  <a:solidFill>
                    <a:srgbClr val="1A0F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D6E"/>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E8E4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E85"/>
                </a:solidFill>
                <a:latin typeface="Arial"/>
              </a:defRPr>
            </a:pPr>
            <a:endParaRPr lang="en-US"/>
          </a:p>
        </c:txPr>
        <c:crossAx val="2094734554"/>
        <c:crosses val="autoZero"/>
        <c:crossBetween val="between"/>
        <c:majorUnit val="1"/>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Số đơn vị khai thác</c:v>
                </c:pt>
              </c:strCache>
            </c:strRef>
          </c:tx>
          <c:spPr>
            <a:solidFill>
              <a:srgbClr val="21135F"/>
            </a:solidFill>
            <a:effectLst/>
          </c:spPr>
          <c:invertIfNegative val="0"/>
          <c:dLbls>
            <c:numFmt formatCode="#,##0" sourceLinked="0"/>
            <c:txPr>
              <a:bodyPr/>
              <a:lstStyle/>
              <a:p>
                <a:pPr>
                  <a:defRPr b="1" i="0" strike="noStrike" sz="1500" u="none">
                    <a:solidFill>
                      <a:srgbClr val="1A0F4A"/>
                    </a:solidFill>
                    <a:latin typeface="Arial"/>
                  </a:defRPr>
                </a:pPr>
              </a:p>
            </c:txPr>
            <c:showLegendKey val="0"/>
            <c:showVal val="1"/>
            <c:showCatName val="0"/>
            <c:showSerName val="0"/>
            <c:showPercent val="0"/>
            <c:showBubbleSize val="0"/>
            <c:showLeaderLines val="0"/>
          </c:dLbls>
          <c:dPt>
            <c:idx val="0"/>
            <c:invertIfNegative val="0"/>
            <c:bubble3D val="0"/>
            <c:spPr>
              <a:solidFill>
                <a:srgbClr val="21135F"/>
              </a:solidFill>
              <a:effectLst/>
            </c:spPr>
          </c:dPt>
          <c:dPt>
            <c:idx val="1"/>
            <c:invertIfNegative val="0"/>
            <c:bubble3D val="0"/>
            <c:spPr>
              <a:solidFill>
                <a:srgbClr val="432A73"/>
              </a:solidFill>
              <a:effectLst/>
            </c:spPr>
          </c:dPt>
          <c:dPt>
            <c:idx val="2"/>
            <c:invertIfNegative val="0"/>
            <c:bubble3D val="0"/>
            <c:spPr>
              <a:solidFill>
                <a:srgbClr val="5E067C"/>
              </a:solidFill>
              <a:effectLst/>
            </c:spPr>
          </c:dPt>
          <c:cat>
            <c:multiLvlStrRef>
              <c:f>Sheet1!$A$2:$A$4</c:f>
              <c:multiLvlStrCache>
                <c:ptCount val="3"/>
                <c:lvl>
                  <c:pt idx="0">
                    <c:v>Mốc gốc
T8/2026</c:v>
                  </c:pt>
                  <c:pt idx="1">
                    <c:v>Cuối 2027</c:v>
                  </c:pt>
                  <c:pt idx="2">
                    <c:v>Cuối T10/2028</c:v>
                  </c:pt>
                </c:lvl>
              </c:multiLvlStrCache>
            </c:multiLvlStrRef>
          </c:cat>
          <c:val>
            <c:numRef>
              <c:f>Sheet1!$B$2:$B$4</c:f>
              <c:numCache>
                <c:formatCode>General</c:formatCode>
                <c:ptCount val="3"/>
                <c:pt idx="0">
                  <c:v>147</c:v>
                </c:pt>
                <c:pt idx="1">
                  <c:v>189</c:v>
                </c:pt>
                <c:pt idx="2">
                  <c:v>252</c:v>
                </c:pt>
              </c:numCache>
            </c:numRef>
          </c:val>
        </c:ser>
        <c:dLbls>
          <c:numFmt formatCode="#,##0" sourceLinked="0"/>
          <c:txPr>
            <a:bodyPr/>
            <a:lstStyle/>
            <a:p>
              <a:pPr>
                <a:defRPr b="1" i="0" strike="noStrike" sz="1500" u="none">
                  <a:solidFill>
                    <a:srgbClr val="1A0F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D6E"/>
                </a:solidFill>
                <a:latin typeface="Arial"/>
              </a:defRPr>
            </a:pPr>
            <a:endParaRPr lang="en-US"/>
          </a:p>
        </c:txPr>
        <c:crossAx val="2094734552"/>
        <c:crosses val="autoZero"/>
        <c:auto val="1"/>
        <c:lblAlgn val="ctr"/>
        <c:noMultiLvlLbl val="1"/>
      </c:catAx>
      <c:valAx>
        <c:axId val="2094734552"/>
        <c:scaling>
          <c:orientation val="minMax"/>
          <c:max val="300"/>
        </c:scaling>
        <c:delete val="0"/>
        <c:axPos val="l"/>
        <c:majorGridlines>
          <c:spPr>
            <a:ln w="12700" cap="flat">
              <a:solidFill>
                <a:srgbClr val="E8E4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E85"/>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đây là phần việc của bộ phận Cho Thuê trong kế hoạch 100 tỷ của cả doanh nghiệp. Nhỏ nhất về tỷ trọng nhưng là phần tạo ra nền tài sản có dòng tiền.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chốt định nghĩa ngay đầu buổi. Bộ phận chịu NOI, không chịu lãi vay.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đây không phải trách đội bán phòng. Ô báo cáo tỷ lệ lấp đầy trong biên bản 04/05 tới giờ vẫn chưa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tính ra 5,09 tỷ. Mục tiêu giao 5,0 tỷ — đệm 92 triệu. Cam kết thấp hơn năng lực là lành mạnh.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2026 không thêm toà: thêm toà khi chưa biết lấp đầy là nhân bản vấn đề. Lấp phòng trống rẻ hơn mọi toà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3 là đòn bẩy quan trọng nhất về dài hạn: quản lý hộ không cần vốn, mở rộng được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 thứ tư là toà đóng khoảng cách — nếu chỉ nhận 3 toà thì mô hình hụt khoảng 0,3 tỷ.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quan trọng: khai thác sâu 8 toà đang có trước, rồi mới nhận toà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nhất slide này: bộ phận chịu NOI, không chịu lãi vay. Và biên 55% là giả định phải hiệu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khoản này cộng đúng 45%. Vượt trần khoản nào thì khoản đó phải giải trình, không bù chéo.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kiện 12/12 kỳ là điều kiện cứng, không thương lượng. Nộp thiếu một kỳ là mất thưởng cả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nộp đúng hạn kể cả tháng xấu. Toà không nộp đúng hạn là toà đang có vấn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buổi bằng câu này. Mỗi dòng có một người, một hạn, một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135F"/>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274320"/>
          </a:xfrm>
          <a:prstGeom prst="rect">
            <a:avLst/>
          </a:prstGeom>
          <a:noFill/>
          <a:ln/>
        </p:spPr>
        <p:txBody>
          <a:bodyPr wrap="square" rtlCol="0" anchor="ctr"/>
          <a:lstStyle/>
          <a:p>
            <a:pPr indent="0" marL="0">
              <a:buNone/>
            </a:pPr>
            <a:r>
              <a:rPr lang="en-US" sz="1200" b="1" spc="300" kern="0" dirty="0">
                <a:solidFill>
                  <a:srgbClr val="F0E0BA"/>
                </a:solidFill>
                <a:latin typeface="Arial" pitchFamily="34" charset="0"/>
                <a:ea typeface="Arial" pitchFamily="34" charset="-122"/>
                <a:cs typeface="Arial" pitchFamily="34" charset="-120"/>
              </a:rPr>
              <a:t>DAPANO GROUP</a:t>
            </a:r>
            <a:endParaRPr lang="en-US" sz="1200" dirty="0"/>
          </a:p>
        </p:txBody>
      </p:sp>
      <p:sp>
        <p:nvSpPr>
          <p:cNvPr id="3" name="Text 1"/>
          <p:cNvSpPr txBox="1"/>
          <p:nvPr/>
        </p:nvSpPr>
        <p:spPr>
          <a:xfrm>
            <a:off x="822960" y="1737360"/>
            <a:ext cx="105156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Mục Tiêu Bộ Phận Cho Thuê</a:t>
            </a:r>
            <a:endParaRPr lang="en-US" sz="4600" dirty="0"/>
          </a:p>
        </p:txBody>
      </p:sp>
      <p:sp>
        <p:nvSpPr>
          <p:cNvPr id="4" name="Text 2"/>
          <p:cNvSpPr txBox="1"/>
          <p:nvPr/>
        </p:nvSpPr>
        <p:spPr>
          <a:xfrm>
            <a:off x="822960" y="2743200"/>
            <a:ext cx="10515600" cy="457200"/>
          </a:xfrm>
          <a:prstGeom prst="rect">
            <a:avLst/>
          </a:prstGeom>
          <a:noFill/>
          <a:ln/>
        </p:spPr>
        <p:txBody>
          <a:bodyPr wrap="square" rtlCol="0" anchor="ctr"/>
          <a:lstStyle/>
          <a:p>
            <a:pPr indent="0" marL="0">
              <a:buNone/>
            </a:pPr>
            <a:r>
              <a:rPr lang="en-US" sz="2100" dirty="0">
                <a:solidFill>
                  <a:srgbClr val="F0E0BA"/>
                </a:solidFill>
                <a:latin typeface="Arial" pitchFamily="34" charset="0"/>
                <a:ea typeface="Arial" pitchFamily="34" charset="-122"/>
                <a:cs typeface="Arial" pitchFamily="34" charset="-120"/>
              </a:rPr>
              <a:t>5 tỷ đồng NOI tăng thêm · 5% của kế hoạch 100 tỷ</a:t>
            </a:r>
            <a:endParaRPr lang="en-US" sz="2100" dirty="0"/>
          </a:p>
        </p:txBody>
      </p:sp>
      <p:sp>
        <p:nvSpPr>
          <p:cNvPr id="5" name="Text 3"/>
          <p:cNvSpPr txBox="1"/>
          <p:nvPr/>
        </p:nvSpPr>
        <p:spPr>
          <a:xfrm>
            <a:off x="822960" y="3337560"/>
            <a:ext cx="10515600" cy="365760"/>
          </a:xfrm>
          <a:prstGeom prst="rect">
            <a:avLst/>
          </a:prstGeom>
          <a:noFill/>
          <a:ln/>
        </p:spPr>
        <p:txBody>
          <a:bodyPr wrap="square" rtlCol="0" anchor="ctr"/>
          <a:lstStyle/>
          <a:p>
            <a:pPr indent="0" marL="0">
              <a:buNone/>
            </a:pPr>
            <a:r>
              <a:rPr lang="en-US" sz="1400" spc="200" kern="0" dirty="0">
                <a:solidFill>
                  <a:srgbClr val="BFB2D8"/>
                </a:solidFill>
                <a:latin typeface="Arial" pitchFamily="34" charset="0"/>
                <a:ea typeface="Arial" pitchFamily="34" charset="-122"/>
                <a:cs typeface="Arial" pitchFamily="34" charset="-120"/>
              </a:rPr>
              <a:t>T9/2026  →  T10/2028</a:t>
            </a:r>
            <a:endParaRPr lang="en-US" sz="1400" dirty="0"/>
          </a:p>
        </p:txBody>
      </p:sp>
      <p:sp>
        <p:nvSpPr>
          <p:cNvPr id="6" name="Shape 4"/>
          <p:cNvSpPr/>
          <p:nvPr/>
        </p:nvSpPr>
        <p:spPr>
          <a:xfrm>
            <a:off x="822960" y="4069080"/>
            <a:ext cx="2926080" cy="0"/>
          </a:xfrm>
          <a:prstGeom prst="line">
            <a:avLst/>
          </a:prstGeom>
          <a:noFill/>
          <a:ln w="31750">
            <a:solidFill>
              <a:srgbClr val="D4A856"/>
            </a:solidFill>
            <a:prstDash val="solid"/>
          </a:ln>
        </p:spPr>
      </p:sp>
      <p:sp>
        <p:nvSpPr>
          <p:cNvPr id="7" name="Text 5"/>
          <p:cNvSpPr txBox="1"/>
          <p:nvPr/>
        </p:nvSpPr>
        <p:spPr>
          <a:xfrm>
            <a:off x="822960" y="4297680"/>
            <a:ext cx="6400800" cy="457200"/>
          </a:xfrm>
          <a:prstGeom prst="rect">
            <a:avLst/>
          </a:prstGeom>
          <a:noFill/>
          <a:ln/>
        </p:spPr>
        <p:txBody>
          <a:bodyPr wrap="square" rtlCol="0" anchor="ctr"/>
          <a:lstStyle/>
          <a:p>
            <a:pPr indent="0" marL="0">
              <a:buNone/>
            </a:pPr>
            <a:r>
              <a:rPr lang="en-US" sz="1700" i="1" dirty="0">
                <a:solidFill>
                  <a:srgbClr val="D4A856"/>
                </a:solidFill>
                <a:latin typeface="Cambria" pitchFamily="34" charset="0"/>
                <a:ea typeface="Cambria" pitchFamily="34" charset="-122"/>
                <a:cs typeface="Cambria" pitchFamily="34" charset="-120"/>
              </a:rPr>
              <a:t>Cộng Hưởng Cùng Viên Mãn</a:t>
            </a:r>
            <a:endParaRPr lang="en-US" sz="1700" dirty="0"/>
          </a:p>
        </p:txBody>
      </p:sp>
      <p:sp>
        <p:nvSpPr>
          <p:cNvPr id="8" name="Text 6"/>
          <p:cNvSpPr txBox="1"/>
          <p:nvPr/>
        </p:nvSpPr>
        <p:spPr>
          <a:xfrm>
            <a:off x="822960" y="5943600"/>
            <a:ext cx="10515600" cy="274320"/>
          </a:xfrm>
          <a:prstGeom prst="rect">
            <a:avLst/>
          </a:prstGeom>
          <a:noFill/>
          <a:ln/>
        </p:spPr>
        <p:txBody>
          <a:bodyPr wrap="square" rtlCol="0" anchor="ctr"/>
          <a:lstStyle/>
          <a:p>
            <a:pPr indent="0" marL="0">
              <a:buNone/>
            </a:pPr>
            <a:r>
              <a:rPr lang="en-US" sz="1100" dirty="0">
                <a:solidFill>
                  <a:srgbClr val="9F92BE"/>
                </a:solidFill>
                <a:latin typeface="Arial" pitchFamily="34" charset="0"/>
                <a:ea typeface="Arial" pitchFamily="34" charset="-122"/>
                <a:cs typeface="Arial" pitchFamily="34" charset="-120"/>
              </a:rPr>
              <a:t>Triển khai tới cấp quản lý · 14/09/2026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ĐỊNH NGHĨA TRƯỚC — ĐỂ SAU NÀY KHÔNG AI CÃI NHAU</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Năm tỷ này nghĩa là gì</a:t>
            </a:r>
            <a:endParaRPr lang="en-US" sz="3200" dirty="0"/>
          </a:p>
        </p:txBody>
      </p:sp>
      <p:sp>
        <p:nvSpPr>
          <p:cNvPr id="4" name="Shape 2"/>
          <p:cNvSpPr/>
          <p:nvPr/>
        </p:nvSpPr>
        <p:spPr>
          <a:xfrm>
            <a:off x="640080" y="1600200"/>
            <a:ext cx="5394960" cy="1828800"/>
          </a:xfrm>
          <a:prstGeom prst="roundRect">
            <a:avLst>
              <a:gd name="adj" fmla="val 3000"/>
            </a:avLst>
          </a:prstGeom>
          <a:solidFill>
            <a:srgbClr val="FFFFFF"/>
          </a:solidFill>
          <a:ln/>
          <a:effectLst>
            <a:outerShdw sx="100000" sy="100000" kx="0" ky="0" algn="bl" rotWithShape="0" blurRad="127000" dist="12700" dir="5400000">
              <a:srgbClr val="21135F">
                <a:alpha val="10000"/>
              </a:srgbClr>
            </a:outerShdw>
          </a:effectLst>
        </p:spPr>
      </p:sp>
      <p:sp>
        <p:nvSpPr>
          <p:cNvPr id="5" name="Text 3"/>
          <p:cNvSpPr txBox="1"/>
          <p:nvPr/>
        </p:nvSpPr>
        <p:spPr>
          <a:xfrm>
            <a:off x="914400" y="1783080"/>
            <a:ext cx="4846320" cy="274320"/>
          </a:xfrm>
          <a:prstGeom prst="rect">
            <a:avLst/>
          </a:prstGeom>
          <a:noFill/>
          <a:ln/>
        </p:spPr>
        <p:txBody>
          <a:bodyPr wrap="square" lIns="0" tIns="0" rIns="0" bIns="0" rtlCol="0" anchor="ctr"/>
          <a:lstStyle/>
          <a:p>
            <a:pPr indent="0" marL="0">
              <a:buNone/>
            </a:pPr>
            <a:r>
              <a:rPr lang="en-US" sz="1100" b="1" spc="160" kern="0" dirty="0">
                <a:solidFill>
                  <a:srgbClr val="B3253F"/>
                </a:solidFill>
                <a:latin typeface="Arial" pitchFamily="34" charset="0"/>
                <a:ea typeface="Arial" pitchFamily="34" charset="-122"/>
                <a:cs typeface="Arial" pitchFamily="34" charset="-120"/>
              </a:rPr>
              <a:t>KHÔNG PHẢI</a:t>
            </a:r>
            <a:endParaRPr lang="en-US" sz="1100" dirty="0"/>
          </a:p>
        </p:txBody>
      </p:sp>
      <p:sp>
        <p:nvSpPr>
          <p:cNvPr id="6" name="Text 4"/>
          <p:cNvSpPr txBox="1"/>
          <p:nvPr/>
        </p:nvSpPr>
        <p:spPr>
          <a:xfrm>
            <a:off x="914400" y="2103120"/>
            <a:ext cx="4846320" cy="1188720"/>
          </a:xfrm>
          <a:prstGeom prst="rect">
            <a:avLst/>
          </a:prstGeom>
          <a:noFill/>
          <a:ln/>
        </p:spPr>
        <p:txBody>
          <a:bodyPr wrap="square" lIns="0" tIns="0" rIns="0" bIns="0" rtlCol="0" anchor="ctr"/>
          <a:lstStyle/>
          <a:p>
            <a:pPr indent="0" marL="0">
              <a:buNone/>
            </a:pPr>
            <a:r>
              <a:rPr lang="en-US" sz="1400" dirty="0">
                <a:solidFill>
                  <a:srgbClr val="4A3D6E"/>
                </a:solidFill>
                <a:latin typeface="Arial" pitchFamily="34" charset="0"/>
                <a:ea typeface="Arial" pitchFamily="34" charset="-122"/>
                <a:cs typeface="Arial" pitchFamily="34" charset="-120"/>
              </a:rPr>
              <a:t>Tổng doanh thu cho thuê. Cũng không phải toàn bộ NOI mà 8 toà đang tạo ra — phần nền đó đã có sẵn trước khi mình bắt đầu.</a:t>
            </a:r>
            <a:endParaRPr lang="en-US" sz="1400" dirty="0"/>
          </a:p>
        </p:txBody>
      </p:sp>
      <p:sp>
        <p:nvSpPr>
          <p:cNvPr id="7" name="Shape 5"/>
          <p:cNvSpPr/>
          <p:nvPr/>
        </p:nvSpPr>
        <p:spPr>
          <a:xfrm>
            <a:off x="6309360" y="1600200"/>
            <a:ext cx="5212080" cy="1828800"/>
          </a:xfrm>
          <a:prstGeom prst="roundRect">
            <a:avLst>
              <a:gd name="adj" fmla="val 3000"/>
            </a:avLst>
          </a:prstGeom>
          <a:solidFill>
            <a:srgbClr val="FFF8E6"/>
          </a:solidFill>
          <a:ln/>
          <a:effectLst>
            <a:outerShdw sx="100000" sy="100000" kx="0" ky="0" algn="bl" rotWithShape="0" blurRad="127000" dist="12700" dir="5400000">
              <a:srgbClr val="21135F">
                <a:alpha val="10000"/>
              </a:srgbClr>
            </a:outerShdw>
          </a:effectLst>
        </p:spPr>
      </p:sp>
      <p:sp>
        <p:nvSpPr>
          <p:cNvPr id="8" name="Text 6"/>
          <p:cNvSpPr txBox="1"/>
          <p:nvPr/>
        </p:nvSpPr>
        <p:spPr>
          <a:xfrm>
            <a:off x="6583680" y="1783080"/>
            <a:ext cx="4663440" cy="274320"/>
          </a:xfrm>
          <a:prstGeom prst="rect">
            <a:avLst/>
          </a:prstGeom>
          <a:noFill/>
          <a:ln/>
        </p:spPr>
        <p:txBody>
          <a:bodyPr wrap="square" lIns="0" tIns="0" rIns="0" bIns="0" rtlCol="0" anchor="ctr"/>
          <a:lstStyle/>
          <a:p>
            <a:pPr indent="0" marL="0">
              <a:buNone/>
            </a:pPr>
            <a:r>
              <a:rPr lang="en-US" sz="1100" b="1" spc="160" kern="0" dirty="0">
                <a:solidFill>
                  <a:srgbClr val="2E7D5B"/>
                </a:solidFill>
                <a:latin typeface="Arial" pitchFamily="34" charset="0"/>
                <a:ea typeface="Arial" pitchFamily="34" charset="-122"/>
                <a:cs typeface="Arial" pitchFamily="34" charset="-120"/>
              </a:rPr>
              <a:t>MÀ LÀ</a:t>
            </a:r>
            <a:endParaRPr lang="en-US" sz="1100" dirty="0"/>
          </a:p>
        </p:txBody>
      </p:sp>
      <p:sp>
        <p:nvSpPr>
          <p:cNvPr id="9" name="Text 7"/>
          <p:cNvSpPr txBox="1"/>
          <p:nvPr/>
        </p:nvSpPr>
        <p:spPr>
          <a:xfrm>
            <a:off x="6583680" y="2103120"/>
            <a:ext cx="4663440" cy="1188720"/>
          </a:xfrm>
          <a:prstGeom prst="rect">
            <a:avLst/>
          </a:prstGeom>
          <a:noFill/>
          <a:ln/>
        </p:spPr>
        <p:txBody>
          <a:bodyPr wrap="square" lIns="0" tIns="0" rIns="0" bIns="0" rtlCol="0" anchor="ctr"/>
          <a:lstStyle/>
          <a:p>
            <a:pPr indent="0" marL="0">
              <a:buNone/>
            </a:pPr>
            <a:r>
              <a:rPr lang="en-US" sz="1400" b="1" dirty="0">
                <a:solidFill>
                  <a:srgbClr val="1A0F4A"/>
                </a:solidFill>
                <a:latin typeface="Arial" pitchFamily="34" charset="0"/>
                <a:ea typeface="Arial" pitchFamily="34" charset="-122"/>
                <a:cs typeface="Arial" pitchFamily="34" charset="-120"/>
              </a:rPr>
              <a:t>NOI TĂNG THÊM do chính bộ phận tạo ra, so với mốc gốc tháng 8/2026: lấp phòng trống, mở thêm đơn vị, nhận thêm toà.</a:t>
            </a:r>
            <a:endParaRPr lang="en-US" sz="1400" dirty="0"/>
          </a:p>
        </p:txBody>
      </p:sp>
      <p:sp>
        <p:nvSpPr>
          <p:cNvPr id="10" name="Shape 8"/>
          <p:cNvSpPr/>
          <p:nvPr/>
        </p:nvSpPr>
        <p:spPr>
          <a:xfrm>
            <a:off x="640080" y="3657600"/>
            <a:ext cx="10881360" cy="1234440"/>
          </a:xfrm>
          <a:prstGeom prst="roundRect">
            <a:avLst>
              <a:gd name="adj" fmla="val 4444"/>
            </a:avLst>
          </a:prstGeom>
          <a:solidFill>
            <a:srgbClr val="21135F"/>
          </a:solidFill>
          <a:ln/>
          <a:effectLst>
            <a:outerShdw sx="100000" sy="100000" kx="0" ky="0" algn="bl" rotWithShape="0" blurRad="127000" dist="12700" dir="5400000">
              <a:srgbClr val="21135F">
                <a:alpha val="10000"/>
              </a:srgbClr>
            </a:outerShdw>
          </a:effectLst>
        </p:spPr>
      </p:sp>
      <p:sp>
        <p:nvSpPr>
          <p:cNvPr id="11" name="Text 9"/>
          <p:cNvSpPr txBox="1"/>
          <p:nvPr/>
        </p:nvSpPr>
        <p:spPr>
          <a:xfrm>
            <a:off x="960120" y="3913632"/>
            <a:ext cx="10241280" cy="731520"/>
          </a:xfrm>
          <a:prstGeom prst="rect">
            <a:avLst/>
          </a:prstGeom>
          <a:noFill/>
          <a:ln/>
        </p:spPr>
        <p:txBody>
          <a:bodyPr wrap="square" lIns="0" tIns="0" rIns="0" bIns="0" rtlCol="0" anchor="ctr"/>
          <a:lstStyle/>
          <a:p>
            <a:pPr indent="0" marL="0">
              <a:buNone/>
            </a:pPr>
            <a:r>
              <a:rPr lang="en-US" sz="1500" i="1" dirty="0">
                <a:solidFill>
                  <a:srgbClr val="F0E0BA"/>
                </a:solidFill>
                <a:latin typeface="Arial" pitchFamily="34" charset="0"/>
                <a:ea typeface="Arial" pitchFamily="34" charset="-122"/>
                <a:cs typeface="Arial" pitchFamily="34" charset="-120"/>
              </a:rPr>
              <a:t>Vì sao đo bằng phần tăng thêm: đó là phần duy nhất do nỗ lực của mình tạo ra. Phần nền là công của khoản đầu tư, không phải của vận hành.</a:t>
            </a:r>
            <a:endParaRPr lang="en-US" sz="1500" dirty="0"/>
          </a:p>
        </p:txBody>
      </p:sp>
      <p:sp>
        <p:nvSpPr>
          <p:cNvPr id="12" name="Text 10"/>
          <p:cNvSpPr txBox="1"/>
          <p:nvPr/>
        </p:nvSpPr>
        <p:spPr>
          <a:xfrm>
            <a:off x="640080" y="5120640"/>
            <a:ext cx="10881360" cy="365760"/>
          </a:xfrm>
          <a:prstGeom prst="rect">
            <a:avLst/>
          </a:prstGeom>
          <a:noFill/>
          <a:ln/>
        </p:spPr>
        <p:txBody>
          <a:bodyPr wrap="square" rtlCol="0" anchor="ctr"/>
          <a:lstStyle/>
          <a:p>
            <a:pPr indent="0" marL="0">
              <a:buNone/>
            </a:pPr>
            <a:r>
              <a:rPr lang="en-US" sz="1300" b="1" dirty="0">
                <a:solidFill>
                  <a:srgbClr val="5E067C"/>
                </a:solidFill>
                <a:latin typeface="Arial" pitchFamily="34" charset="0"/>
                <a:ea typeface="Arial" pitchFamily="34" charset="-122"/>
                <a:cs typeface="Arial" pitchFamily="34" charset="-120"/>
              </a:rPr>
              <a:t>Lãi vay KHÔNG tính vào bộ phận Cho Thuê — lãi vay thuộc bộ phận Vốn. Bộ phận Cho Thuê chịu trách nhiệm NOI.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XUẤT PHÁT ĐIỂM THẬT — SỐ TỪ HỒ SƠ DANH MỤC VÀ BIÊN BẢN HỌP 04/05/2026</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Mình đang đứng ở đâu</a:t>
            </a:r>
            <a:endParaRPr lang="en-US" sz="3200" dirty="0"/>
          </a:p>
        </p:txBody>
      </p:sp>
      <p:sp>
        <p:nvSpPr>
          <p:cNvPr id="4" name="Shape 2"/>
          <p:cNvSpPr/>
          <p:nvPr/>
        </p:nvSpPr>
        <p:spPr>
          <a:xfrm>
            <a:off x="640080" y="1600200"/>
            <a:ext cx="2743200" cy="1965960"/>
          </a:xfrm>
          <a:prstGeom prst="roundRect">
            <a:avLst>
              <a:gd name="adj" fmla="val 2791"/>
            </a:avLst>
          </a:prstGeom>
          <a:solidFill>
            <a:srgbClr val="FFFFFF"/>
          </a:solidFill>
          <a:ln/>
          <a:effectLst>
            <a:outerShdw sx="100000" sy="100000" kx="0" ky="0" algn="bl" rotWithShape="0" blurRad="127000" dist="12700" dir="5400000">
              <a:srgbClr val="21135F">
                <a:alpha val="10000"/>
              </a:srgbClr>
            </a:outerShdw>
          </a:effectLst>
        </p:spPr>
      </p:sp>
      <p:sp>
        <p:nvSpPr>
          <p:cNvPr id="5" name="Text 3"/>
          <p:cNvSpPr txBox="1"/>
          <p:nvPr/>
        </p:nvSpPr>
        <p:spPr>
          <a:xfrm>
            <a:off x="896112" y="1801368"/>
            <a:ext cx="2231136" cy="777240"/>
          </a:xfrm>
          <a:prstGeom prst="rect">
            <a:avLst/>
          </a:prstGeom>
          <a:noFill/>
          <a:ln/>
        </p:spPr>
        <p:txBody>
          <a:bodyPr wrap="square" lIns="0" tIns="0" rIns="0" bIns="0" rtlCol="0" anchor="ctr"/>
          <a:lstStyle/>
          <a:p>
            <a:pPr indent="0" marL="0">
              <a:buNone/>
            </a:pPr>
            <a:r>
              <a:rPr lang="en-US" sz="4400" b="1" dirty="0">
                <a:solidFill>
                  <a:srgbClr val="1A0F4A"/>
                </a:solidFill>
                <a:latin typeface="Cambria" pitchFamily="34" charset="0"/>
                <a:ea typeface="Cambria" pitchFamily="34" charset="-122"/>
                <a:cs typeface="Cambria" pitchFamily="34" charset="-120"/>
              </a:rPr>
              <a:t>8</a:t>
            </a:r>
            <a:endParaRPr lang="en-US" sz="4400" dirty="0"/>
          </a:p>
        </p:txBody>
      </p:sp>
      <p:sp>
        <p:nvSpPr>
          <p:cNvPr id="6" name="Text 4"/>
          <p:cNvSpPr txBox="1"/>
          <p:nvPr/>
        </p:nvSpPr>
        <p:spPr>
          <a:xfrm>
            <a:off x="896112" y="2587752"/>
            <a:ext cx="2231136" cy="274320"/>
          </a:xfrm>
          <a:prstGeom prst="rect">
            <a:avLst/>
          </a:prstGeom>
          <a:noFill/>
          <a:ln/>
        </p:spPr>
        <p:txBody>
          <a:bodyPr wrap="square" lIns="0" tIns="0" rIns="0" bIns="0" rtlCol="0" anchor="ctr"/>
          <a:lstStyle/>
          <a:p>
            <a:pPr indent="0" marL="0">
              <a:buNone/>
            </a:pPr>
            <a:r>
              <a:rPr lang="en-US" sz="1100" b="1" spc="140" kern="0" dirty="0">
                <a:solidFill>
                  <a:srgbClr val="5E067C"/>
                </a:solidFill>
                <a:latin typeface="Arial" pitchFamily="34" charset="0"/>
                <a:ea typeface="Arial" pitchFamily="34" charset="-122"/>
                <a:cs typeface="Arial" pitchFamily="34" charset="-120"/>
              </a:rPr>
              <a:t>TOÀ NHÀ</a:t>
            </a:r>
            <a:endParaRPr lang="en-US" sz="1100" dirty="0"/>
          </a:p>
        </p:txBody>
      </p:sp>
      <p:sp>
        <p:nvSpPr>
          <p:cNvPr id="7" name="Text 5"/>
          <p:cNvSpPr txBox="1"/>
          <p:nvPr/>
        </p:nvSpPr>
        <p:spPr>
          <a:xfrm>
            <a:off x="896112" y="2880360"/>
            <a:ext cx="2231136" cy="56692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185,75 tỷ vốn đầu tư</a:t>
            </a:r>
            <a:endParaRPr lang="en-US" sz="1100" dirty="0"/>
          </a:p>
        </p:txBody>
      </p:sp>
      <p:sp>
        <p:nvSpPr>
          <p:cNvPr id="8" name="Shape 6"/>
          <p:cNvSpPr/>
          <p:nvPr/>
        </p:nvSpPr>
        <p:spPr>
          <a:xfrm>
            <a:off x="3611880" y="1600200"/>
            <a:ext cx="2743200" cy="1965960"/>
          </a:xfrm>
          <a:prstGeom prst="roundRect">
            <a:avLst>
              <a:gd name="adj" fmla="val 2791"/>
            </a:avLst>
          </a:prstGeom>
          <a:solidFill>
            <a:srgbClr val="FFFFFF"/>
          </a:solidFill>
          <a:ln/>
          <a:effectLst>
            <a:outerShdw sx="100000" sy="100000" kx="0" ky="0" algn="bl" rotWithShape="0" blurRad="127000" dist="12700" dir="5400000">
              <a:srgbClr val="21135F">
                <a:alpha val="10000"/>
              </a:srgbClr>
            </a:outerShdw>
          </a:effectLst>
        </p:spPr>
      </p:sp>
      <p:sp>
        <p:nvSpPr>
          <p:cNvPr id="9" name="Text 7"/>
          <p:cNvSpPr txBox="1"/>
          <p:nvPr/>
        </p:nvSpPr>
        <p:spPr>
          <a:xfrm>
            <a:off x="3867912" y="1801368"/>
            <a:ext cx="2231136" cy="777240"/>
          </a:xfrm>
          <a:prstGeom prst="rect">
            <a:avLst/>
          </a:prstGeom>
          <a:noFill/>
          <a:ln/>
        </p:spPr>
        <p:txBody>
          <a:bodyPr wrap="square" lIns="0" tIns="0" rIns="0" bIns="0" rtlCol="0" anchor="ctr"/>
          <a:lstStyle/>
          <a:p>
            <a:pPr indent="0" marL="0">
              <a:buNone/>
            </a:pPr>
            <a:r>
              <a:rPr lang="en-US" sz="4400" b="1" dirty="0">
                <a:solidFill>
                  <a:srgbClr val="1A0F4A"/>
                </a:solidFill>
                <a:latin typeface="Cambria" pitchFamily="34" charset="0"/>
                <a:ea typeface="Cambria" pitchFamily="34" charset="-122"/>
                <a:cs typeface="Cambria" pitchFamily="34" charset="-120"/>
              </a:rPr>
              <a:t>147</a:t>
            </a:r>
            <a:endParaRPr lang="en-US" sz="4400" dirty="0"/>
          </a:p>
        </p:txBody>
      </p:sp>
      <p:sp>
        <p:nvSpPr>
          <p:cNvPr id="10" name="Text 8"/>
          <p:cNvSpPr txBox="1"/>
          <p:nvPr/>
        </p:nvSpPr>
        <p:spPr>
          <a:xfrm>
            <a:off x="3867912" y="2587752"/>
            <a:ext cx="2231136" cy="274320"/>
          </a:xfrm>
          <a:prstGeom prst="rect">
            <a:avLst/>
          </a:prstGeom>
          <a:noFill/>
          <a:ln/>
        </p:spPr>
        <p:txBody>
          <a:bodyPr wrap="square" lIns="0" tIns="0" rIns="0" bIns="0" rtlCol="0" anchor="ctr"/>
          <a:lstStyle/>
          <a:p>
            <a:pPr indent="0" marL="0">
              <a:buNone/>
            </a:pPr>
            <a:r>
              <a:rPr lang="en-US" sz="1100" b="1" spc="140" kern="0" dirty="0">
                <a:solidFill>
                  <a:srgbClr val="5E067C"/>
                </a:solidFill>
                <a:latin typeface="Arial" pitchFamily="34" charset="0"/>
                <a:ea typeface="Arial" pitchFamily="34" charset="-122"/>
                <a:cs typeface="Arial" pitchFamily="34" charset="-120"/>
              </a:rPr>
              <a:t>ĐƠN VỊ KHAI THÁC</a:t>
            </a:r>
            <a:endParaRPr lang="en-US" sz="1100" dirty="0"/>
          </a:p>
        </p:txBody>
      </p:sp>
      <p:sp>
        <p:nvSpPr>
          <p:cNvPr id="11" name="Text 9"/>
          <p:cNvSpPr txBox="1"/>
          <p:nvPr/>
        </p:nvSpPr>
        <p:spPr>
          <a:xfrm>
            <a:off x="3867912" y="2880360"/>
            <a:ext cx="2231136" cy="56692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Giai đoạn 1, theo hồ sơ danh mục</a:t>
            </a:r>
            <a:endParaRPr lang="en-US" sz="1100" dirty="0"/>
          </a:p>
        </p:txBody>
      </p:sp>
      <p:sp>
        <p:nvSpPr>
          <p:cNvPr id="12" name="Shape 10"/>
          <p:cNvSpPr/>
          <p:nvPr/>
        </p:nvSpPr>
        <p:spPr>
          <a:xfrm>
            <a:off x="6583680" y="1600200"/>
            <a:ext cx="2743200" cy="1965960"/>
          </a:xfrm>
          <a:prstGeom prst="roundRect">
            <a:avLst>
              <a:gd name="adj" fmla="val 2791"/>
            </a:avLst>
          </a:prstGeom>
          <a:solidFill>
            <a:srgbClr val="FFFFFF"/>
          </a:solidFill>
          <a:ln/>
          <a:effectLst>
            <a:outerShdw sx="100000" sy="100000" kx="0" ky="0" algn="bl" rotWithShape="0" blurRad="127000" dist="12700" dir="5400000">
              <a:srgbClr val="21135F">
                <a:alpha val="10000"/>
              </a:srgbClr>
            </a:outerShdw>
          </a:effectLst>
        </p:spPr>
      </p:sp>
      <p:sp>
        <p:nvSpPr>
          <p:cNvPr id="13" name="Text 11"/>
          <p:cNvSpPr txBox="1"/>
          <p:nvPr/>
        </p:nvSpPr>
        <p:spPr>
          <a:xfrm>
            <a:off x="6839712" y="1801368"/>
            <a:ext cx="2231136" cy="777240"/>
          </a:xfrm>
          <a:prstGeom prst="rect">
            <a:avLst/>
          </a:prstGeom>
          <a:noFill/>
          <a:ln/>
        </p:spPr>
        <p:txBody>
          <a:bodyPr wrap="square" lIns="0" tIns="0" rIns="0" bIns="0" rtlCol="0" anchor="ctr"/>
          <a:lstStyle/>
          <a:p>
            <a:pPr indent="0" marL="0">
              <a:buNone/>
            </a:pPr>
            <a:r>
              <a:rPr lang="en-US" sz="4400" b="1" dirty="0">
                <a:solidFill>
                  <a:srgbClr val="B3253F"/>
                </a:solidFill>
                <a:latin typeface="Cambria" pitchFamily="34" charset="0"/>
                <a:ea typeface="Cambria" pitchFamily="34" charset="-122"/>
                <a:cs typeface="Cambria" pitchFamily="34" charset="-120"/>
              </a:rPr>
              <a:t>40</a:t>
            </a:r>
            <a:endParaRPr lang="en-US" sz="4400" dirty="0"/>
          </a:p>
        </p:txBody>
      </p:sp>
      <p:sp>
        <p:nvSpPr>
          <p:cNvPr id="14" name="Text 12"/>
          <p:cNvSpPr txBox="1"/>
          <p:nvPr/>
        </p:nvSpPr>
        <p:spPr>
          <a:xfrm>
            <a:off x="6839712" y="2587752"/>
            <a:ext cx="2231136" cy="274320"/>
          </a:xfrm>
          <a:prstGeom prst="rect">
            <a:avLst/>
          </a:prstGeom>
          <a:noFill/>
          <a:ln/>
        </p:spPr>
        <p:txBody>
          <a:bodyPr wrap="square" lIns="0" tIns="0" rIns="0" bIns="0" rtlCol="0" anchor="ctr"/>
          <a:lstStyle/>
          <a:p>
            <a:pPr indent="0" marL="0">
              <a:buNone/>
            </a:pPr>
            <a:r>
              <a:rPr lang="en-US" sz="1100" b="1" spc="140" kern="0" dirty="0">
                <a:solidFill>
                  <a:srgbClr val="5E067C"/>
                </a:solidFill>
                <a:latin typeface="Arial" pitchFamily="34" charset="0"/>
                <a:ea typeface="Arial" pitchFamily="34" charset="-122"/>
                <a:cs typeface="Arial" pitchFamily="34" charset="-120"/>
              </a:rPr>
              <a:t>PHÒNG TRỐNG</a:t>
            </a:r>
            <a:endParaRPr lang="en-US" sz="1100" dirty="0"/>
          </a:p>
        </p:txBody>
      </p:sp>
      <p:sp>
        <p:nvSpPr>
          <p:cNvPr id="15" name="Text 13"/>
          <p:cNvSpPr txBox="1"/>
          <p:nvPr/>
        </p:nvSpPr>
        <p:spPr>
          <a:xfrm>
            <a:off x="6839712" y="2880360"/>
            <a:ext cx="2231136" cy="56692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28 đang trống + 12 sắp trống</a:t>
            </a:r>
            <a:endParaRPr lang="en-US" sz="1100" dirty="0"/>
          </a:p>
        </p:txBody>
      </p:sp>
      <p:sp>
        <p:nvSpPr>
          <p:cNvPr id="16" name="Shape 14"/>
          <p:cNvSpPr/>
          <p:nvPr/>
        </p:nvSpPr>
        <p:spPr>
          <a:xfrm>
            <a:off x="9555480" y="1600200"/>
            <a:ext cx="1965960" cy="1965960"/>
          </a:xfrm>
          <a:prstGeom prst="roundRect">
            <a:avLst>
              <a:gd name="adj" fmla="val 2791"/>
            </a:avLst>
          </a:prstGeom>
          <a:solidFill>
            <a:srgbClr val="FFFFFF"/>
          </a:solidFill>
          <a:ln/>
          <a:effectLst>
            <a:outerShdw sx="100000" sy="100000" kx="0" ky="0" algn="bl" rotWithShape="0" blurRad="127000" dist="12700" dir="5400000">
              <a:srgbClr val="21135F">
                <a:alpha val="10000"/>
              </a:srgbClr>
            </a:outerShdw>
          </a:effectLst>
        </p:spPr>
      </p:sp>
      <p:sp>
        <p:nvSpPr>
          <p:cNvPr id="17" name="Text 15"/>
          <p:cNvSpPr txBox="1"/>
          <p:nvPr/>
        </p:nvSpPr>
        <p:spPr>
          <a:xfrm>
            <a:off x="9811512" y="1801368"/>
            <a:ext cx="1453896" cy="777240"/>
          </a:xfrm>
          <a:prstGeom prst="rect">
            <a:avLst/>
          </a:prstGeom>
          <a:noFill/>
          <a:ln/>
        </p:spPr>
        <p:txBody>
          <a:bodyPr wrap="square" lIns="0" tIns="0" rIns="0" bIns="0" rtlCol="0" anchor="ctr"/>
          <a:lstStyle/>
          <a:p>
            <a:pPr indent="0" marL="0">
              <a:buNone/>
            </a:pPr>
            <a:r>
              <a:rPr lang="en-US" sz="4400" b="1" dirty="0">
                <a:solidFill>
                  <a:srgbClr val="B3253F"/>
                </a:solidFill>
                <a:latin typeface="Cambria" pitchFamily="34" charset="0"/>
                <a:ea typeface="Cambria" pitchFamily="34" charset="-122"/>
                <a:cs typeface="Cambria" pitchFamily="34" charset="-120"/>
              </a:rPr>
              <a:t>22%</a:t>
            </a:r>
            <a:endParaRPr lang="en-US" sz="4400" dirty="0"/>
          </a:p>
        </p:txBody>
      </p:sp>
      <p:sp>
        <p:nvSpPr>
          <p:cNvPr id="18" name="Text 16"/>
          <p:cNvSpPr txBox="1"/>
          <p:nvPr/>
        </p:nvSpPr>
        <p:spPr>
          <a:xfrm>
            <a:off x="9811512" y="2587752"/>
            <a:ext cx="1453896" cy="274320"/>
          </a:xfrm>
          <a:prstGeom prst="rect">
            <a:avLst/>
          </a:prstGeom>
          <a:noFill/>
          <a:ln/>
        </p:spPr>
        <p:txBody>
          <a:bodyPr wrap="square" lIns="0" tIns="0" rIns="0" bIns="0" rtlCol="0" anchor="ctr"/>
          <a:lstStyle/>
          <a:p>
            <a:pPr indent="0" marL="0">
              <a:buNone/>
            </a:pPr>
            <a:r>
              <a:rPr lang="en-US" sz="1100" b="1" spc="140" kern="0" dirty="0">
                <a:solidFill>
                  <a:srgbClr val="5E067C"/>
                </a:solidFill>
                <a:latin typeface="Arial" pitchFamily="34" charset="0"/>
                <a:ea typeface="Arial" pitchFamily="34" charset="-122"/>
                <a:cs typeface="Arial" pitchFamily="34" charset="-120"/>
              </a:rPr>
              <a:t>DOANH THU BỊ CẮT</a:t>
            </a:r>
            <a:endParaRPr lang="en-US" sz="1100" dirty="0"/>
          </a:p>
        </p:txBody>
      </p:sp>
      <p:sp>
        <p:nvSpPr>
          <p:cNvPr id="19" name="Text 17"/>
          <p:cNvSpPr txBox="1"/>
          <p:nvPr/>
        </p:nvSpPr>
        <p:spPr>
          <a:xfrm>
            <a:off x="9811512" y="2880360"/>
            <a:ext cx="1453896" cy="56692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So với công suất</a:t>
            </a:r>
            <a:endParaRPr lang="en-US" sz="1100" dirty="0"/>
          </a:p>
        </p:txBody>
      </p:sp>
      <p:sp>
        <p:nvSpPr>
          <p:cNvPr id="20" name="Shape 18"/>
          <p:cNvSpPr/>
          <p:nvPr/>
        </p:nvSpPr>
        <p:spPr>
          <a:xfrm>
            <a:off x="640080" y="3886200"/>
            <a:ext cx="10881360" cy="1371600"/>
          </a:xfrm>
          <a:prstGeom prst="roundRect">
            <a:avLst>
              <a:gd name="adj" fmla="val 4000"/>
            </a:avLst>
          </a:prstGeom>
          <a:solidFill>
            <a:srgbClr val="21135F"/>
          </a:solidFill>
          <a:ln/>
          <a:effectLst>
            <a:outerShdw sx="100000" sy="100000" kx="0" ky="0" algn="bl" rotWithShape="0" blurRad="127000" dist="12700" dir="5400000">
              <a:srgbClr val="21135F">
                <a:alpha val="10000"/>
              </a:srgbClr>
            </a:outerShdw>
          </a:effectLst>
        </p:spPr>
      </p:sp>
      <p:sp>
        <p:nvSpPr>
          <p:cNvPr id="21" name="Text 19"/>
          <p:cNvSpPr txBox="1"/>
          <p:nvPr/>
        </p:nvSpPr>
        <p:spPr>
          <a:xfrm>
            <a:off x="1005840" y="4069080"/>
            <a:ext cx="3840480" cy="548640"/>
          </a:xfrm>
          <a:prstGeom prst="rect">
            <a:avLst/>
          </a:prstGeom>
          <a:noFill/>
          <a:ln/>
        </p:spPr>
        <p:txBody>
          <a:bodyPr wrap="square" lIns="0" tIns="0" rIns="0" bIns="0" rtlCol="0" anchor="ctr"/>
          <a:lstStyle/>
          <a:p>
            <a:pPr indent="0" marL="0">
              <a:buNone/>
            </a:pPr>
            <a:r>
              <a:rPr lang="en-US" sz="3000" b="1" dirty="0">
                <a:solidFill>
                  <a:srgbClr val="F0E0BA"/>
                </a:solidFill>
                <a:latin typeface="Cambria" pitchFamily="34" charset="0"/>
                <a:ea typeface="Cambria" pitchFamily="34" charset="-122"/>
                <a:cs typeface="Cambria" pitchFamily="34" charset="-120"/>
              </a:rPr>
              <a:t>210 triệu mỗi tháng</a:t>
            </a:r>
            <a:endParaRPr lang="en-US" sz="3000" dirty="0"/>
          </a:p>
        </p:txBody>
      </p:sp>
      <p:sp>
        <p:nvSpPr>
          <p:cNvPr id="22" name="Text 20"/>
          <p:cNvSpPr txBox="1"/>
          <p:nvPr/>
        </p:nvSpPr>
        <p:spPr>
          <a:xfrm>
            <a:off x="5029200" y="4114800"/>
            <a:ext cx="6309360" cy="914400"/>
          </a:xfrm>
          <a:prstGeom prst="rect">
            <a:avLst/>
          </a:prstGeom>
          <a:noFill/>
          <a:ln/>
        </p:spPr>
        <p:txBody>
          <a:bodyPr wrap="square" lIns="0" tIns="0" rIns="0" bIns="0" rtlCol="0" anchor="ctr"/>
          <a:lstStyle/>
          <a:p>
            <a:pPr indent="0" marL="0">
              <a:buNone/>
            </a:pPr>
            <a:r>
              <a:rPr lang="en-US" sz="1400" dirty="0">
                <a:solidFill>
                  <a:srgbClr val="DCD2F0"/>
                </a:solidFill>
                <a:latin typeface="Arial" pitchFamily="34" charset="0"/>
                <a:ea typeface="Arial" pitchFamily="34" charset="-122"/>
                <a:cs typeface="Arial" pitchFamily="34" charset="-120"/>
              </a:rPr>
              <a:t>40 phòng × 5,25 triệu. Tính tròn năm là 2,52 tỷ doanh thu không bao giờ quay lại. Đây là chỗ dễ lấy tiền nhất — và rẻ nhất — trong toàn bộ kế hoạch.</a:t>
            </a:r>
            <a:endParaRPr lang="en-US" sz="1400" dirty="0"/>
          </a:p>
        </p:txBody>
      </p:sp>
      <p:sp>
        <p:nvSpPr>
          <p:cNvPr id="23" name="Text 21"/>
          <p:cNvSpPr txBox="1"/>
          <p:nvPr/>
        </p:nvSpPr>
        <p:spPr>
          <a:xfrm>
            <a:off x="640080" y="5486400"/>
            <a:ext cx="10881360" cy="457200"/>
          </a:xfrm>
          <a:prstGeom prst="rect">
            <a:avLst/>
          </a:prstGeom>
          <a:noFill/>
          <a:ln/>
        </p:spPr>
        <p:txBody>
          <a:bodyPr wrap="square" rtlCol="0" anchor="ctr"/>
          <a:lstStyle/>
          <a:p>
            <a:pPr indent="0" marL="0">
              <a:buNone/>
            </a:pPr>
            <a:r>
              <a:rPr lang="en-US" sz="1300" i="1" dirty="0">
                <a:solidFill>
                  <a:srgbClr val="6B5E85"/>
                </a:solidFill>
                <a:latin typeface="Arial" pitchFamily="34" charset="0"/>
                <a:ea typeface="Arial" pitchFamily="34" charset="-122"/>
                <a:cs typeface="Arial" pitchFamily="34" charset="-120"/>
              </a:rPr>
              <a:t>Không ai lấp được thứ chưa từng được đếm. Tỷ lệ lấp đầy hiện chưa được đo — đó mới là gốc của vấn đề, không phải đội bán phòng.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PHÂN RÃ MỤC TIÊU</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Năm tỷ chia ra ba năm</a:t>
            </a:r>
            <a:endParaRPr lang="en-US" sz="3200" dirty="0"/>
          </a:p>
        </p:txBody>
      </p:sp>
      <p:graphicFrame>
        <p:nvGraphicFramePr>
          <p:cNvPr id="4" name="Chart 0" descr=""/>
          <p:cNvGraphicFramePr/>
          <p:nvPr/>
        </p:nvGraphicFramePr>
        <p:xfrm>
          <a:off x="640080" y="155448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783080"/>
            <a:ext cx="4572000" cy="1115568"/>
          </a:xfrm>
          <a:prstGeom prst="roundRect">
            <a:avLst>
              <a:gd name="adj" fmla="val 4918"/>
            </a:avLst>
          </a:prstGeom>
          <a:solidFill>
            <a:srgbClr val="FFFFFF"/>
          </a:solidFill>
          <a:ln/>
          <a:effectLst>
            <a:outerShdw sx="100000" sy="100000" kx="0" ky="0" algn="bl" rotWithShape="0" blurRad="127000" dist="12700" dir="5400000">
              <a:srgbClr val="21135F">
                <a:alpha val="10000"/>
              </a:srgbClr>
            </a:outerShdw>
          </a:effectLst>
        </p:spPr>
      </p:sp>
      <p:sp>
        <p:nvSpPr>
          <p:cNvPr id="6" name="Text 3"/>
          <p:cNvSpPr txBox="1"/>
          <p:nvPr/>
        </p:nvSpPr>
        <p:spPr>
          <a:xfrm>
            <a:off x="7178040" y="1911096"/>
            <a:ext cx="2194560" cy="274320"/>
          </a:xfrm>
          <a:prstGeom prst="rect">
            <a:avLst/>
          </a:prstGeom>
          <a:noFill/>
          <a:ln/>
        </p:spPr>
        <p:txBody>
          <a:bodyPr wrap="square" lIns="0" tIns="0" rIns="0" bIns="0" rtlCol="0" anchor="ctr"/>
          <a:lstStyle/>
          <a:p>
            <a:pPr indent="0" marL="0">
              <a:buNone/>
            </a:pPr>
            <a:r>
              <a:rPr lang="en-US" sz="1200" b="1" dirty="0">
                <a:solidFill>
                  <a:srgbClr val="5E067C"/>
                </a:solidFill>
                <a:latin typeface="Arial" pitchFamily="34" charset="0"/>
                <a:ea typeface="Arial" pitchFamily="34" charset="-122"/>
                <a:cs typeface="Arial" pitchFamily="34" charset="-120"/>
              </a:rPr>
              <a:t>2026 · T9–T12</a:t>
            </a:r>
            <a:endParaRPr lang="en-US" sz="1200" dirty="0"/>
          </a:p>
        </p:txBody>
      </p:sp>
      <p:sp>
        <p:nvSpPr>
          <p:cNvPr id="7" name="Text 4"/>
          <p:cNvSpPr txBox="1"/>
          <p:nvPr/>
        </p:nvSpPr>
        <p:spPr>
          <a:xfrm>
            <a:off x="9418320" y="1856232"/>
            <a:ext cx="1920240" cy="384048"/>
          </a:xfrm>
          <a:prstGeom prst="rect">
            <a:avLst/>
          </a:prstGeom>
          <a:noFill/>
          <a:ln/>
        </p:spPr>
        <p:txBody>
          <a:bodyPr wrap="square" lIns="0" tIns="0" rIns="0" bIns="0" rtlCol="0" anchor="ctr"/>
          <a:lstStyle/>
          <a:p>
            <a:pPr algn="r" indent="0" marL="0">
              <a:buNone/>
            </a:pPr>
            <a:r>
              <a:rPr lang="en-US" sz="2200" b="1" dirty="0">
                <a:solidFill>
                  <a:srgbClr val="1A0F4A"/>
                </a:solidFill>
                <a:latin typeface="Cambria" pitchFamily="34" charset="0"/>
                <a:ea typeface="Cambria" pitchFamily="34" charset="-122"/>
                <a:cs typeface="Cambria" pitchFamily="34" charset="-120"/>
              </a:rPr>
              <a:t>0,2 tỷ</a:t>
            </a:r>
            <a:endParaRPr lang="en-US" sz="2200" dirty="0"/>
          </a:p>
        </p:txBody>
      </p:sp>
      <p:sp>
        <p:nvSpPr>
          <p:cNvPr id="8" name="Text 5"/>
          <p:cNvSpPr txBox="1"/>
          <p:nvPr/>
        </p:nvSpPr>
        <p:spPr>
          <a:xfrm>
            <a:off x="7178040" y="2258568"/>
            <a:ext cx="4114800" cy="56692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Lấp 30/40 phòng trống. Không thêm toà nào.</a:t>
            </a:r>
            <a:endParaRPr lang="en-US" sz="1150" dirty="0"/>
          </a:p>
        </p:txBody>
      </p:sp>
      <p:sp>
        <p:nvSpPr>
          <p:cNvPr id="9" name="Shape 6"/>
          <p:cNvSpPr/>
          <p:nvPr/>
        </p:nvSpPr>
        <p:spPr>
          <a:xfrm>
            <a:off x="6949440" y="3044952"/>
            <a:ext cx="4572000" cy="1115568"/>
          </a:xfrm>
          <a:prstGeom prst="roundRect">
            <a:avLst>
              <a:gd name="adj" fmla="val 4918"/>
            </a:avLst>
          </a:prstGeom>
          <a:solidFill>
            <a:srgbClr val="FFFFFF"/>
          </a:solidFill>
          <a:ln/>
          <a:effectLst>
            <a:outerShdw sx="100000" sy="100000" kx="0" ky="0" algn="bl" rotWithShape="0" blurRad="127000" dist="12700" dir="5400000">
              <a:srgbClr val="21135F">
                <a:alpha val="10000"/>
              </a:srgbClr>
            </a:outerShdw>
          </a:effectLst>
        </p:spPr>
      </p:sp>
      <p:sp>
        <p:nvSpPr>
          <p:cNvPr id="10" name="Text 7"/>
          <p:cNvSpPr txBox="1"/>
          <p:nvPr/>
        </p:nvSpPr>
        <p:spPr>
          <a:xfrm>
            <a:off x="7178040" y="3172968"/>
            <a:ext cx="2194560" cy="274320"/>
          </a:xfrm>
          <a:prstGeom prst="rect">
            <a:avLst/>
          </a:prstGeom>
          <a:noFill/>
          <a:ln/>
        </p:spPr>
        <p:txBody>
          <a:bodyPr wrap="square" lIns="0" tIns="0" rIns="0" bIns="0" rtlCol="0" anchor="ctr"/>
          <a:lstStyle/>
          <a:p>
            <a:pPr indent="0" marL="0">
              <a:buNone/>
            </a:pPr>
            <a:r>
              <a:rPr lang="en-US" sz="1200" b="1" dirty="0">
                <a:solidFill>
                  <a:srgbClr val="5E067C"/>
                </a:solidFill>
                <a:latin typeface="Arial" pitchFamily="34" charset="0"/>
                <a:ea typeface="Arial" pitchFamily="34" charset="-122"/>
                <a:cs typeface="Arial" pitchFamily="34" charset="-120"/>
              </a:rPr>
              <a:t>2027 · cả năm</a:t>
            </a:r>
            <a:endParaRPr lang="en-US" sz="1200" dirty="0"/>
          </a:p>
        </p:txBody>
      </p:sp>
      <p:sp>
        <p:nvSpPr>
          <p:cNvPr id="11" name="Text 8"/>
          <p:cNvSpPr txBox="1"/>
          <p:nvPr/>
        </p:nvSpPr>
        <p:spPr>
          <a:xfrm>
            <a:off x="9418320" y="3118104"/>
            <a:ext cx="1920240" cy="384048"/>
          </a:xfrm>
          <a:prstGeom prst="rect">
            <a:avLst/>
          </a:prstGeom>
          <a:noFill/>
          <a:ln/>
        </p:spPr>
        <p:txBody>
          <a:bodyPr wrap="square" lIns="0" tIns="0" rIns="0" bIns="0" rtlCol="0" anchor="ctr"/>
          <a:lstStyle/>
          <a:p>
            <a:pPr algn="r" indent="0" marL="0">
              <a:buNone/>
            </a:pPr>
            <a:r>
              <a:rPr lang="en-US" sz="2200" b="1" dirty="0">
                <a:solidFill>
                  <a:srgbClr val="1A0F4A"/>
                </a:solidFill>
                <a:latin typeface="Cambria" pitchFamily="34" charset="0"/>
                <a:ea typeface="Cambria" pitchFamily="34" charset="-122"/>
                <a:cs typeface="Cambria" pitchFamily="34" charset="-120"/>
              </a:rPr>
              <a:t>1,6 tỷ</a:t>
            </a:r>
            <a:endParaRPr lang="en-US" sz="2200" dirty="0"/>
          </a:p>
        </p:txBody>
      </p:sp>
      <p:sp>
        <p:nvSpPr>
          <p:cNvPr id="12" name="Text 9"/>
          <p:cNvSpPr txBox="1"/>
          <p:nvPr/>
        </p:nvSpPr>
        <p:spPr>
          <a:xfrm>
            <a:off x="7178040" y="3520440"/>
            <a:ext cx="4114800" cy="56692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Giai đoạn 2 của 8 toà + 1 toà quản lý hộ.</a:t>
            </a:r>
            <a:endParaRPr lang="en-US" sz="1150" dirty="0"/>
          </a:p>
        </p:txBody>
      </p:sp>
      <p:sp>
        <p:nvSpPr>
          <p:cNvPr id="13" name="Shape 10"/>
          <p:cNvSpPr/>
          <p:nvPr/>
        </p:nvSpPr>
        <p:spPr>
          <a:xfrm>
            <a:off x="6949440" y="4306824"/>
            <a:ext cx="4572000" cy="1115568"/>
          </a:xfrm>
          <a:prstGeom prst="roundRect">
            <a:avLst>
              <a:gd name="adj" fmla="val 4918"/>
            </a:avLst>
          </a:prstGeom>
          <a:solidFill>
            <a:srgbClr val="FFFFFF"/>
          </a:solidFill>
          <a:ln/>
          <a:effectLst>
            <a:outerShdw sx="100000" sy="100000" kx="0" ky="0" algn="bl" rotWithShape="0" blurRad="127000" dist="12700" dir="5400000">
              <a:srgbClr val="21135F">
                <a:alpha val="10000"/>
              </a:srgbClr>
            </a:outerShdw>
          </a:effectLst>
        </p:spPr>
      </p:sp>
      <p:sp>
        <p:nvSpPr>
          <p:cNvPr id="14" name="Text 11"/>
          <p:cNvSpPr txBox="1"/>
          <p:nvPr/>
        </p:nvSpPr>
        <p:spPr>
          <a:xfrm>
            <a:off x="7178040" y="4434840"/>
            <a:ext cx="2194560" cy="274320"/>
          </a:xfrm>
          <a:prstGeom prst="rect">
            <a:avLst/>
          </a:prstGeom>
          <a:noFill/>
          <a:ln/>
        </p:spPr>
        <p:txBody>
          <a:bodyPr wrap="square" lIns="0" tIns="0" rIns="0" bIns="0" rtlCol="0" anchor="ctr"/>
          <a:lstStyle/>
          <a:p>
            <a:pPr indent="0" marL="0">
              <a:buNone/>
            </a:pPr>
            <a:r>
              <a:rPr lang="en-US" sz="1200" b="1" dirty="0">
                <a:solidFill>
                  <a:srgbClr val="5E067C"/>
                </a:solidFill>
                <a:latin typeface="Arial" pitchFamily="34" charset="0"/>
                <a:ea typeface="Arial" pitchFamily="34" charset="-122"/>
                <a:cs typeface="Arial" pitchFamily="34" charset="-120"/>
              </a:rPr>
              <a:t>2028 · T1–T10</a:t>
            </a:r>
            <a:endParaRPr lang="en-US" sz="1200" dirty="0"/>
          </a:p>
        </p:txBody>
      </p:sp>
      <p:sp>
        <p:nvSpPr>
          <p:cNvPr id="15" name="Text 12"/>
          <p:cNvSpPr txBox="1"/>
          <p:nvPr/>
        </p:nvSpPr>
        <p:spPr>
          <a:xfrm>
            <a:off x="9418320" y="4379976"/>
            <a:ext cx="1920240" cy="384048"/>
          </a:xfrm>
          <a:prstGeom prst="rect">
            <a:avLst/>
          </a:prstGeom>
          <a:noFill/>
          <a:ln/>
        </p:spPr>
        <p:txBody>
          <a:bodyPr wrap="square" lIns="0" tIns="0" rIns="0" bIns="0" rtlCol="0" anchor="ctr"/>
          <a:lstStyle/>
          <a:p>
            <a:pPr algn="r" indent="0" marL="0">
              <a:buNone/>
            </a:pPr>
            <a:r>
              <a:rPr lang="en-US" sz="2200" b="1" dirty="0">
                <a:solidFill>
                  <a:srgbClr val="1A0F4A"/>
                </a:solidFill>
                <a:latin typeface="Cambria" pitchFamily="34" charset="0"/>
                <a:ea typeface="Cambria" pitchFamily="34" charset="-122"/>
                <a:cs typeface="Cambria" pitchFamily="34" charset="-120"/>
              </a:rPr>
              <a:t>3,2 tỷ</a:t>
            </a:r>
            <a:endParaRPr lang="en-US" sz="2200" dirty="0"/>
          </a:p>
        </p:txBody>
      </p:sp>
      <p:sp>
        <p:nvSpPr>
          <p:cNvPr id="16" name="Text 13"/>
          <p:cNvSpPr txBox="1"/>
          <p:nvPr/>
        </p:nvSpPr>
        <p:spPr>
          <a:xfrm>
            <a:off x="7178040" y="4782312"/>
            <a:ext cx="4114800" cy="56692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4 toà mới + nền hai năm trước.</a:t>
            </a:r>
            <a:endParaRPr lang="en-US" sz="1150" dirty="0"/>
          </a:p>
        </p:txBody>
      </p:sp>
      <p:sp>
        <p:nvSpPr>
          <p:cNvPr id="17" name="Shape 14"/>
          <p:cNvSpPr/>
          <p:nvPr/>
        </p:nvSpPr>
        <p:spPr>
          <a:xfrm>
            <a:off x="6949440" y="5568696"/>
            <a:ext cx="4572000" cy="658368"/>
          </a:xfrm>
          <a:prstGeom prst="roundRect">
            <a:avLst>
              <a:gd name="adj" fmla="val 8333"/>
            </a:avLst>
          </a:prstGeom>
          <a:solidFill>
            <a:srgbClr val="21135F"/>
          </a:solidFill>
          <a:ln/>
          <a:effectLst>
            <a:outerShdw sx="100000" sy="100000" kx="0" ky="0" algn="bl" rotWithShape="0" blurRad="127000" dist="12700" dir="5400000">
              <a:srgbClr val="21135F">
                <a:alpha val="10000"/>
              </a:srgbClr>
            </a:outerShdw>
          </a:effectLst>
        </p:spPr>
      </p:sp>
      <p:sp>
        <p:nvSpPr>
          <p:cNvPr id="18" name="Text 15"/>
          <p:cNvSpPr txBox="1"/>
          <p:nvPr/>
        </p:nvSpPr>
        <p:spPr>
          <a:xfrm>
            <a:off x="7178040" y="5751576"/>
            <a:ext cx="2194560" cy="310896"/>
          </a:xfrm>
          <a:prstGeom prst="rect">
            <a:avLst/>
          </a:prstGeom>
          <a:noFill/>
          <a:ln/>
        </p:spPr>
        <p:txBody>
          <a:bodyPr wrap="square" lIns="0" tIns="0" rIns="0" bIns="0" rtlCol="0" anchor="ctr"/>
          <a:lstStyle/>
          <a:p>
            <a:pPr indent="0" marL="0">
              <a:buNone/>
            </a:pPr>
            <a:r>
              <a:rPr lang="en-US" sz="1300" b="1" spc="160" kern="0" dirty="0">
                <a:solidFill>
                  <a:srgbClr val="F0E0BA"/>
                </a:solidFill>
                <a:latin typeface="Arial" pitchFamily="34" charset="0"/>
                <a:ea typeface="Arial" pitchFamily="34" charset="-122"/>
                <a:cs typeface="Arial" pitchFamily="34" charset="-120"/>
              </a:rPr>
              <a:t>TỔNG</a:t>
            </a:r>
            <a:endParaRPr lang="en-US" sz="1300" dirty="0"/>
          </a:p>
        </p:txBody>
      </p:sp>
      <p:sp>
        <p:nvSpPr>
          <p:cNvPr id="19" name="Text 16"/>
          <p:cNvSpPr txBox="1"/>
          <p:nvPr/>
        </p:nvSpPr>
        <p:spPr>
          <a:xfrm>
            <a:off x="9418320" y="5687568"/>
            <a:ext cx="1920240" cy="411480"/>
          </a:xfrm>
          <a:prstGeom prst="rect">
            <a:avLst/>
          </a:prstGeom>
          <a:noFill/>
          <a:ln/>
        </p:spPr>
        <p:txBody>
          <a:bodyPr wrap="square" lIns="0" tIns="0" rIns="0" bIns="0" rtlCol="0" anchor="ctr"/>
          <a:lstStyle/>
          <a:p>
            <a:pPr algn="r" indent="0" marL="0">
              <a:buNone/>
            </a:pPr>
            <a:r>
              <a:rPr lang="en-US" sz="2400" b="1" dirty="0">
                <a:solidFill>
                  <a:srgbClr val="FFFFFF"/>
                </a:solidFill>
                <a:latin typeface="Cambria" pitchFamily="34" charset="0"/>
                <a:ea typeface="Cambria" pitchFamily="34" charset="-122"/>
                <a:cs typeface="Cambria" pitchFamily="34" charset="-120"/>
              </a:rPr>
              <a:t>5,0 tỷ</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135F"/>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274320"/>
          </a:xfrm>
          <a:prstGeom prst="rect">
            <a:avLst/>
          </a:prstGeom>
          <a:noFill/>
          <a:ln/>
        </p:spPr>
        <p:txBody>
          <a:bodyPr wrap="square" rtlCol="0" anchor="ctr"/>
          <a:lstStyle/>
          <a:p>
            <a:pPr indent="0" marL="0">
              <a:buNone/>
            </a:pPr>
            <a:r>
              <a:rPr lang="en-US" sz="1100" b="1" spc="250" kern="0" dirty="0">
                <a:solidFill>
                  <a:srgbClr val="F0E0BA"/>
                </a:solidFill>
                <a:latin typeface="Arial" pitchFamily="34" charset="0"/>
                <a:ea typeface="Arial" pitchFamily="34" charset="-122"/>
                <a:cs typeface="Arial" pitchFamily="34" charset="-120"/>
              </a:rPr>
              <a:t>GIAI ĐOẠN 1 · T9–T12/2026 · MỤC TIÊU 0,2 TỶ</a:t>
            </a:r>
            <a:endParaRPr lang="en-US" sz="1100" dirty="0"/>
          </a:p>
        </p:txBody>
      </p:sp>
      <p:sp>
        <p:nvSpPr>
          <p:cNvPr id="3" name="Text 1"/>
          <p:cNvSpPr txBox="1"/>
          <p:nvPr/>
        </p:nvSpPr>
        <p:spPr>
          <a:xfrm>
            <a:off x="731520" y="1005840"/>
            <a:ext cx="1069848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2026 — Không thêm toà nào</a:t>
            </a:r>
            <a:endParaRPr lang="en-US" sz="4000" dirty="0"/>
          </a:p>
        </p:txBody>
      </p:sp>
      <p:sp>
        <p:nvSpPr>
          <p:cNvPr id="4" name="Text 2"/>
          <p:cNvSpPr txBox="1"/>
          <p:nvPr/>
        </p:nvSpPr>
        <p:spPr>
          <a:xfrm>
            <a:off x="731520" y="2148840"/>
            <a:ext cx="10698480" cy="457200"/>
          </a:xfrm>
          <a:prstGeom prst="rect">
            <a:avLst/>
          </a:prstGeom>
          <a:noFill/>
          <a:ln/>
        </p:spPr>
        <p:txBody>
          <a:bodyPr wrap="square" rtlCol="0" anchor="ctr"/>
          <a:lstStyle/>
          <a:p>
            <a:pPr indent="0" marL="0">
              <a:buNone/>
            </a:pPr>
            <a:r>
              <a:rPr lang="en-US" sz="2000" dirty="0">
                <a:solidFill>
                  <a:srgbClr val="F0E0BA"/>
                </a:solidFill>
                <a:latin typeface="Arial" pitchFamily="34" charset="0"/>
                <a:ea typeface="Arial" pitchFamily="34" charset="-122"/>
                <a:cs typeface="Arial" pitchFamily="34" charset="-120"/>
              </a:rPr>
              <a:t>Toàn lực vào một việc: lấp 30 trong 40 phòng trống.</a:t>
            </a:r>
            <a:endParaRPr lang="en-US" sz="2000" dirty="0"/>
          </a:p>
        </p:txBody>
      </p:sp>
      <p:sp>
        <p:nvSpPr>
          <p:cNvPr id="5" name="Shape 3"/>
          <p:cNvSpPr/>
          <p:nvPr/>
        </p:nvSpPr>
        <p:spPr>
          <a:xfrm>
            <a:off x="731520" y="2880360"/>
            <a:ext cx="2551176" cy="2286000"/>
          </a:xfrm>
          <a:prstGeom prst="roundRect">
            <a:avLst>
              <a:gd name="adj" fmla="val 2400"/>
            </a:avLst>
          </a:prstGeom>
          <a:solidFill>
            <a:srgbClr val="2E1F63"/>
          </a:solidFill>
          <a:ln/>
        </p:spPr>
      </p:sp>
      <p:sp>
        <p:nvSpPr>
          <p:cNvPr id="6" name="Shape 4"/>
          <p:cNvSpPr/>
          <p:nvPr/>
        </p:nvSpPr>
        <p:spPr>
          <a:xfrm>
            <a:off x="960120" y="3090672"/>
            <a:ext cx="548640" cy="548640"/>
          </a:xfrm>
          <a:prstGeom prst="ellipse">
            <a:avLst/>
          </a:prstGeom>
          <a:solidFill>
            <a:srgbClr val="D4A856"/>
          </a:solidFill>
          <a:ln/>
        </p:spPr>
      </p:sp>
      <p:sp>
        <p:nvSpPr>
          <p:cNvPr id="7" name="Text 5"/>
          <p:cNvSpPr txBox="1"/>
          <p:nvPr/>
        </p:nvSpPr>
        <p:spPr>
          <a:xfrm>
            <a:off x="960120" y="3172968"/>
            <a:ext cx="548640" cy="384048"/>
          </a:xfrm>
          <a:prstGeom prst="rect">
            <a:avLst/>
          </a:prstGeom>
          <a:noFill/>
          <a:ln/>
        </p:spPr>
        <p:txBody>
          <a:bodyPr wrap="square" lIns="0" tIns="0" rIns="0" bIns="0" rtlCol="0" anchor="ctr"/>
          <a:lstStyle/>
          <a:p>
            <a:pPr algn="ctr" indent="0" marL="0">
              <a:buNone/>
            </a:pPr>
            <a:r>
              <a:rPr lang="en-US" sz="2000" b="1" dirty="0">
                <a:solidFill>
                  <a:srgbClr val="21135F"/>
                </a:solidFill>
                <a:latin typeface="Cambria" pitchFamily="34" charset="0"/>
                <a:ea typeface="Cambria" pitchFamily="34" charset="-122"/>
                <a:cs typeface="Cambria" pitchFamily="34" charset="-120"/>
              </a:rPr>
              <a:t>A</a:t>
            </a:r>
            <a:endParaRPr lang="en-US" sz="2000" dirty="0"/>
          </a:p>
        </p:txBody>
      </p:sp>
      <p:sp>
        <p:nvSpPr>
          <p:cNvPr id="8" name="Text 6"/>
          <p:cNvSpPr txBox="1"/>
          <p:nvPr/>
        </p:nvSpPr>
        <p:spPr>
          <a:xfrm>
            <a:off x="960120" y="3749040"/>
            <a:ext cx="21031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Mùa vụ</a:t>
            </a:r>
            <a:endParaRPr lang="en-US" sz="1400" dirty="0"/>
          </a:p>
        </p:txBody>
      </p:sp>
      <p:sp>
        <p:nvSpPr>
          <p:cNvPr id="9" name="Text 7"/>
          <p:cNvSpPr txBox="1"/>
          <p:nvPr/>
        </p:nvSpPr>
        <p:spPr>
          <a:xfrm>
            <a:off x="960120" y="4069080"/>
            <a:ext cx="2103120" cy="1005840"/>
          </a:xfrm>
          <a:prstGeom prst="rect">
            <a:avLst/>
          </a:prstGeom>
          <a:noFill/>
          <a:ln/>
        </p:spPr>
        <p:txBody>
          <a:bodyPr wrap="square" lIns="0" tIns="0" rIns="0" bIns="0" rtlCol="0" anchor="ctr"/>
          <a:lstStyle/>
          <a:p>
            <a:pPr indent="0" marL="0">
              <a:buNone/>
            </a:pPr>
            <a:r>
              <a:rPr lang="en-US" sz="1100" dirty="0">
                <a:solidFill>
                  <a:srgbClr val="BFB2D8"/>
                </a:solidFill>
                <a:latin typeface="Arial" pitchFamily="34" charset="0"/>
                <a:ea typeface="Arial" pitchFamily="34" charset="-122"/>
                <a:cs typeface="Arial" pitchFamily="34" charset="-120"/>
              </a:rPr>
              <a:t>Chuyển tạm sang khách ngắn ngày. Không giảm giá dài hạn cho một khoảng trống ngắn hạn.</a:t>
            </a:r>
            <a:endParaRPr lang="en-US" sz="1100" dirty="0"/>
          </a:p>
        </p:txBody>
      </p:sp>
      <p:sp>
        <p:nvSpPr>
          <p:cNvPr id="10" name="Shape 8"/>
          <p:cNvSpPr/>
          <p:nvPr/>
        </p:nvSpPr>
        <p:spPr>
          <a:xfrm>
            <a:off x="3465576" y="2880360"/>
            <a:ext cx="2551176" cy="2286000"/>
          </a:xfrm>
          <a:prstGeom prst="roundRect">
            <a:avLst>
              <a:gd name="adj" fmla="val 2400"/>
            </a:avLst>
          </a:prstGeom>
          <a:solidFill>
            <a:srgbClr val="2E1F63"/>
          </a:solidFill>
          <a:ln/>
        </p:spPr>
      </p:sp>
      <p:sp>
        <p:nvSpPr>
          <p:cNvPr id="11" name="Shape 9"/>
          <p:cNvSpPr/>
          <p:nvPr/>
        </p:nvSpPr>
        <p:spPr>
          <a:xfrm>
            <a:off x="3694176" y="3090672"/>
            <a:ext cx="548640" cy="548640"/>
          </a:xfrm>
          <a:prstGeom prst="ellipse">
            <a:avLst/>
          </a:prstGeom>
          <a:solidFill>
            <a:srgbClr val="D4A856"/>
          </a:solidFill>
          <a:ln/>
        </p:spPr>
      </p:sp>
      <p:sp>
        <p:nvSpPr>
          <p:cNvPr id="12" name="Text 10"/>
          <p:cNvSpPr txBox="1"/>
          <p:nvPr/>
        </p:nvSpPr>
        <p:spPr>
          <a:xfrm>
            <a:off x="3694176" y="3172968"/>
            <a:ext cx="548640" cy="384048"/>
          </a:xfrm>
          <a:prstGeom prst="rect">
            <a:avLst/>
          </a:prstGeom>
          <a:noFill/>
          <a:ln/>
        </p:spPr>
        <p:txBody>
          <a:bodyPr wrap="square" lIns="0" tIns="0" rIns="0" bIns="0" rtlCol="0" anchor="ctr"/>
          <a:lstStyle/>
          <a:p>
            <a:pPr algn="ctr" indent="0" marL="0">
              <a:buNone/>
            </a:pPr>
            <a:r>
              <a:rPr lang="en-US" sz="2000" b="1" dirty="0">
                <a:solidFill>
                  <a:srgbClr val="21135F"/>
                </a:solidFill>
                <a:latin typeface="Cambria" pitchFamily="34" charset="0"/>
                <a:ea typeface="Cambria" pitchFamily="34" charset="-122"/>
                <a:cs typeface="Cambria" pitchFamily="34" charset="-120"/>
              </a:rPr>
              <a:t>B</a:t>
            </a:r>
            <a:endParaRPr lang="en-US" sz="2000" dirty="0"/>
          </a:p>
        </p:txBody>
      </p:sp>
      <p:sp>
        <p:nvSpPr>
          <p:cNvPr id="13" name="Text 11"/>
          <p:cNvSpPr txBox="1"/>
          <p:nvPr/>
        </p:nvSpPr>
        <p:spPr>
          <a:xfrm>
            <a:off x="3694176" y="3749040"/>
            <a:ext cx="21031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Sản phẩm kém</a:t>
            </a:r>
            <a:endParaRPr lang="en-US" sz="1400" dirty="0"/>
          </a:p>
        </p:txBody>
      </p:sp>
      <p:sp>
        <p:nvSpPr>
          <p:cNvPr id="14" name="Text 12"/>
          <p:cNvSpPr txBox="1"/>
          <p:nvPr/>
        </p:nvSpPr>
        <p:spPr>
          <a:xfrm>
            <a:off x="3694176" y="4069080"/>
            <a:ext cx="2103120" cy="1005840"/>
          </a:xfrm>
          <a:prstGeom prst="rect">
            <a:avLst/>
          </a:prstGeom>
          <a:noFill/>
          <a:ln/>
        </p:spPr>
        <p:txBody>
          <a:bodyPr wrap="square" lIns="0" tIns="0" rIns="0" bIns="0" rtlCol="0" anchor="ctr"/>
          <a:lstStyle/>
          <a:p>
            <a:pPr indent="0" marL="0">
              <a:buNone/>
            </a:pPr>
            <a:r>
              <a:rPr lang="en-US" sz="1100" dirty="0">
                <a:solidFill>
                  <a:srgbClr val="BFB2D8"/>
                </a:solidFill>
                <a:latin typeface="Arial" pitchFamily="34" charset="0"/>
                <a:ea typeface="Arial" pitchFamily="34" charset="-122"/>
                <a:cs typeface="Arial" pitchFamily="34" charset="-120"/>
              </a:rPr>
              <a:t>Cải tạo có mục tiêu. Trong lúc chờ, ngừng dẫn khách đi xem.</a:t>
            </a:r>
            <a:endParaRPr lang="en-US" sz="1100" dirty="0"/>
          </a:p>
        </p:txBody>
      </p:sp>
      <p:sp>
        <p:nvSpPr>
          <p:cNvPr id="15" name="Shape 13"/>
          <p:cNvSpPr/>
          <p:nvPr/>
        </p:nvSpPr>
        <p:spPr>
          <a:xfrm>
            <a:off x="6199632" y="2880360"/>
            <a:ext cx="2551176" cy="2286000"/>
          </a:xfrm>
          <a:prstGeom prst="roundRect">
            <a:avLst>
              <a:gd name="adj" fmla="val 2400"/>
            </a:avLst>
          </a:prstGeom>
          <a:solidFill>
            <a:srgbClr val="2E1F63"/>
          </a:solidFill>
          <a:ln/>
        </p:spPr>
      </p:sp>
      <p:sp>
        <p:nvSpPr>
          <p:cNvPr id="16" name="Shape 14"/>
          <p:cNvSpPr/>
          <p:nvPr/>
        </p:nvSpPr>
        <p:spPr>
          <a:xfrm>
            <a:off x="6428232" y="3090672"/>
            <a:ext cx="548640" cy="548640"/>
          </a:xfrm>
          <a:prstGeom prst="ellipse">
            <a:avLst/>
          </a:prstGeom>
          <a:solidFill>
            <a:srgbClr val="D4A856"/>
          </a:solidFill>
          <a:ln/>
        </p:spPr>
      </p:sp>
      <p:sp>
        <p:nvSpPr>
          <p:cNvPr id="17" name="Text 15"/>
          <p:cNvSpPr txBox="1"/>
          <p:nvPr/>
        </p:nvSpPr>
        <p:spPr>
          <a:xfrm>
            <a:off x="6428232" y="3172968"/>
            <a:ext cx="548640" cy="384048"/>
          </a:xfrm>
          <a:prstGeom prst="rect">
            <a:avLst/>
          </a:prstGeom>
          <a:noFill/>
          <a:ln/>
        </p:spPr>
        <p:txBody>
          <a:bodyPr wrap="square" lIns="0" tIns="0" rIns="0" bIns="0" rtlCol="0" anchor="ctr"/>
          <a:lstStyle/>
          <a:p>
            <a:pPr algn="ctr" indent="0" marL="0">
              <a:buNone/>
            </a:pPr>
            <a:r>
              <a:rPr lang="en-US" sz="2000" b="1" dirty="0">
                <a:solidFill>
                  <a:srgbClr val="21135F"/>
                </a:solidFill>
                <a:latin typeface="Cambria" pitchFamily="34" charset="0"/>
                <a:ea typeface="Cambria" pitchFamily="34" charset="-122"/>
                <a:cs typeface="Cambria" pitchFamily="34" charset="-120"/>
              </a:rPr>
              <a:t>C</a:t>
            </a:r>
            <a:endParaRPr lang="en-US" sz="2000" dirty="0"/>
          </a:p>
        </p:txBody>
      </p:sp>
      <p:sp>
        <p:nvSpPr>
          <p:cNvPr id="18" name="Text 16"/>
          <p:cNvSpPr txBox="1"/>
          <p:nvPr/>
        </p:nvSpPr>
        <p:spPr>
          <a:xfrm>
            <a:off x="6428232" y="3749040"/>
            <a:ext cx="21031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Giá sai</a:t>
            </a:r>
            <a:endParaRPr lang="en-US" sz="1400" dirty="0"/>
          </a:p>
        </p:txBody>
      </p:sp>
      <p:sp>
        <p:nvSpPr>
          <p:cNvPr id="19" name="Text 17"/>
          <p:cNvSpPr txBox="1"/>
          <p:nvPr/>
        </p:nvSpPr>
        <p:spPr>
          <a:xfrm>
            <a:off x="6428232" y="4069080"/>
            <a:ext cx="2103120" cy="1005840"/>
          </a:xfrm>
          <a:prstGeom prst="rect">
            <a:avLst/>
          </a:prstGeom>
          <a:noFill/>
          <a:ln/>
        </p:spPr>
        <p:txBody>
          <a:bodyPr wrap="square" lIns="0" tIns="0" rIns="0" bIns="0" rtlCol="0" anchor="ctr"/>
          <a:lstStyle/>
          <a:p>
            <a:pPr indent="0" marL="0">
              <a:buNone/>
            </a:pPr>
            <a:r>
              <a:rPr lang="en-US" sz="1100" dirty="0">
                <a:solidFill>
                  <a:srgbClr val="BFB2D8"/>
                </a:solidFill>
                <a:latin typeface="Arial" pitchFamily="34" charset="0"/>
                <a:ea typeface="Arial" pitchFamily="34" charset="-122"/>
                <a:cs typeface="Arial" pitchFamily="34" charset="-120"/>
              </a:rPr>
              <a:t>Bậc thang giá. Ưu tiên tặng giá trị hơn cắt giá.</a:t>
            </a:r>
            <a:endParaRPr lang="en-US" sz="1100" dirty="0"/>
          </a:p>
        </p:txBody>
      </p:sp>
      <p:sp>
        <p:nvSpPr>
          <p:cNvPr id="20" name="Shape 18"/>
          <p:cNvSpPr/>
          <p:nvPr/>
        </p:nvSpPr>
        <p:spPr>
          <a:xfrm>
            <a:off x="8933688" y="2880360"/>
            <a:ext cx="2551176" cy="2286000"/>
          </a:xfrm>
          <a:prstGeom prst="roundRect">
            <a:avLst>
              <a:gd name="adj" fmla="val 2400"/>
            </a:avLst>
          </a:prstGeom>
          <a:solidFill>
            <a:srgbClr val="2E1F63"/>
          </a:solidFill>
          <a:ln/>
        </p:spPr>
      </p:sp>
      <p:sp>
        <p:nvSpPr>
          <p:cNvPr id="21" name="Shape 19"/>
          <p:cNvSpPr/>
          <p:nvPr/>
        </p:nvSpPr>
        <p:spPr>
          <a:xfrm>
            <a:off x="9162288" y="3090672"/>
            <a:ext cx="548640" cy="548640"/>
          </a:xfrm>
          <a:prstGeom prst="ellipse">
            <a:avLst/>
          </a:prstGeom>
          <a:solidFill>
            <a:srgbClr val="D4A856"/>
          </a:solidFill>
          <a:ln/>
        </p:spPr>
      </p:sp>
      <p:sp>
        <p:nvSpPr>
          <p:cNvPr id="22" name="Text 20"/>
          <p:cNvSpPr txBox="1"/>
          <p:nvPr/>
        </p:nvSpPr>
        <p:spPr>
          <a:xfrm>
            <a:off x="9162288" y="3172968"/>
            <a:ext cx="548640" cy="384048"/>
          </a:xfrm>
          <a:prstGeom prst="rect">
            <a:avLst/>
          </a:prstGeom>
          <a:noFill/>
          <a:ln/>
        </p:spPr>
        <p:txBody>
          <a:bodyPr wrap="square" lIns="0" tIns="0" rIns="0" bIns="0" rtlCol="0" anchor="ctr"/>
          <a:lstStyle/>
          <a:p>
            <a:pPr algn="ctr" indent="0" marL="0">
              <a:buNone/>
            </a:pPr>
            <a:r>
              <a:rPr lang="en-US" sz="2000" b="1" dirty="0">
                <a:solidFill>
                  <a:srgbClr val="21135F"/>
                </a:solidFill>
                <a:latin typeface="Cambria" pitchFamily="34" charset="0"/>
                <a:ea typeface="Cambria" pitchFamily="34" charset="-122"/>
                <a:cs typeface="Cambria" pitchFamily="34" charset="-120"/>
              </a:rPr>
              <a:t>D</a:t>
            </a:r>
            <a:endParaRPr lang="en-US" sz="2000" dirty="0"/>
          </a:p>
        </p:txBody>
      </p:sp>
      <p:sp>
        <p:nvSpPr>
          <p:cNvPr id="23" name="Text 21"/>
          <p:cNvSpPr txBox="1"/>
          <p:nvPr/>
        </p:nvSpPr>
        <p:spPr>
          <a:xfrm>
            <a:off x="9162288" y="3749040"/>
            <a:ext cx="21031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Không ai biết</a:t>
            </a:r>
            <a:endParaRPr lang="en-US" sz="1400" dirty="0"/>
          </a:p>
        </p:txBody>
      </p:sp>
      <p:sp>
        <p:nvSpPr>
          <p:cNvPr id="24" name="Text 22"/>
          <p:cNvSpPr txBox="1"/>
          <p:nvPr/>
        </p:nvSpPr>
        <p:spPr>
          <a:xfrm>
            <a:off x="9162288" y="4069080"/>
            <a:ext cx="2103120" cy="1005840"/>
          </a:xfrm>
          <a:prstGeom prst="rect">
            <a:avLst/>
          </a:prstGeom>
          <a:noFill/>
          <a:ln/>
        </p:spPr>
        <p:txBody>
          <a:bodyPr wrap="square" lIns="0" tIns="0" rIns="0" bIns="0" rtlCol="0" anchor="ctr"/>
          <a:lstStyle/>
          <a:p>
            <a:pPr indent="0" marL="0">
              <a:buNone/>
            </a:pPr>
            <a:r>
              <a:rPr lang="en-US" sz="1100" dirty="0">
                <a:solidFill>
                  <a:srgbClr val="BFB2D8"/>
                </a:solidFill>
                <a:latin typeface="Arial" pitchFamily="34" charset="0"/>
                <a:ea typeface="Arial" pitchFamily="34" charset="-122"/>
                <a:cs typeface="Arial" pitchFamily="34" charset="-120"/>
              </a:rPr>
              <a:t>Landing page riêng mỗi toà, mỗi trang một số điện thoại.</a:t>
            </a:r>
            <a:endParaRPr lang="en-US" sz="1100" dirty="0"/>
          </a:p>
        </p:txBody>
      </p:sp>
      <p:sp>
        <p:nvSpPr>
          <p:cNvPr id="25" name="Text 23"/>
          <p:cNvSpPr txBox="1"/>
          <p:nvPr/>
        </p:nvSpPr>
        <p:spPr>
          <a:xfrm>
            <a:off x="731520" y="5486400"/>
            <a:ext cx="10698480" cy="365760"/>
          </a:xfrm>
          <a:prstGeom prst="rect">
            <a:avLst/>
          </a:prstGeom>
          <a:noFill/>
          <a:ln/>
        </p:spPr>
        <p:txBody>
          <a:bodyPr wrap="square" rtlCol="0" anchor="ctr"/>
          <a:lstStyle/>
          <a:p>
            <a:pPr indent="0" marL="0">
              <a:buNone/>
            </a:pPr>
            <a:r>
              <a:rPr lang="en-US" sz="1400" b="1" dirty="0">
                <a:solidFill>
                  <a:srgbClr val="D4A856"/>
                </a:solidFill>
                <a:latin typeface="Arial" pitchFamily="34" charset="0"/>
                <a:ea typeface="Arial" pitchFamily="34" charset="-122"/>
                <a:cs typeface="Arial" pitchFamily="34" charset="-120"/>
              </a:rPr>
              <a:t>Hạn phân loại 40 phòng: 17/09/2026. Chưa phân loại xong thì chưa bắt đầu chiến dịch.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GIAI ĐOẠN 2 · CẢ NĂM · MỤC TIÊU 1,6 TỶ</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2027 — Khai thác hết toà đang có</a:t>
            </a:r>
            <a:endParaRPr lang="en-US" sz="3200" dirty="0"/>
          </a:p>
        </p:txBody>
      </p:sp>
      <p:sp>
        <p:nvSpPr>
          <p:cNvPr id="4" name="Shape 2"/>
          <p:cNvSpPr/>
          <p:nvPr/>
        </p:nvSpPr>
        <p:spPr>
          <a:xfrm>
            <a:off x="640080" y="1691640"/>
            <a:ext cx="10881360" cy="1188720"/>
          </a:xfrm>
          <a:prstGeom prst="roundRect">
            <a:avLst>
              <a:gd name="adj" fmla="val 4615"/>
            </a:avLst>
          </a:prstGeom>
          <a:solidFill>
            <a:srgbClr val="FFFFFF"/>
          </a:solidFill>
          <a:ln/>
          <a:effectLst>
            <a:outerShdw sx="100000" sy="100000" kx="0" ky="0" algn="bl" rotWithShape="0" blurRad="127000" dist="12700" dir="5400000">
              <a:srgbClr val="21135F">
                <a:alpha val="10000"/>
              </a:srgbClr>
            </a:outerShdw>
          </a:effectLst>
        </p:spPr>
      </p:sp>
      <p:sp>
        <p:nvSpPr>
          <p:cNvPr id="5" name="Shape 3"/>
          <p:cNvSpPr/>
          <p:nvPr/>
        </p:nvSpPr>
        <p:spPr>
          <a:xfrm>
            <a:off x="914400" y="2020824"/>
            <a:ext cx="530352" cy="530352"/>
          </a:xfrm>
          <a:prstGeom prst="ellipse">
            <a:avLst/>
          </a:prstGeom>
          <a:solidFill>
            <a:srgbClr val="5E067C"/>
          </a:solidFill>
          <a:ln/>
        </p:spPr>
      </p:sp>
      <p:sp>
        <p:nvSpPr>
          <p:cNvPr id="6" name="Text 4"/>
          <p:cNvSpPr txBox="1"/>
          <p:nvPr/>
        </p:nvSpPr>
        <p:spPr>
          <a:xfrm>
            <a:off x="914400" y="2103120"/>
            <a:ext cx="5303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691640" y="1947672"/>
            <a:ext cx="5669280" cy="347472"/>
          </a:xfrm>
          <a:prstGeom prst="rect">
            <a:avLst/>
          </a:prstGeom>
          <a:noFill/>
          <a:ln/>
        </p:spPr>
        <p:txBody>
          <a:bodyPr wrap="square" lIns="0" tIns="0" rIns="0" bIns="0" rtlCol="0" anchor="ctr"/>
          <a:lstStyle/>
          <a:p>
            <a:pPr indent="0" marL="0">
              <a:buNone/>
            </a:pPr>
            <a:r>
              <a:rPr lang="en-US" sz="1600" b="1" dirty="0">
                <a:solidFill>
                  <a:srgbClr val="1A0F4A"/>
                </a:solidFill>
                <a:latin typeface="Arial" pitchFamily="34" charset="0"/>
                <a:ea typeface="Arial" pitchFamily="34" charset="-122"/>
                <a:cs typeface="Arial" pitchFamily="34" charset="-120"/>
              </a:rPr>
              <a:t>30 phòng đã lấp, chạy đủ năm</a:t>
            </a:r>
            <a:endParaRPr lang="en-US" sz="1600" dirty="0"/>
          </a:p>
        </p:txBody>
      </p:sp>
      <p:sp>
        <p:nvSpPr>
          <p:cNvPr id="8" name="Text 6"/>
          <p:cNvSpPr txBox="1"/>
          <p:nvPr/>
        </p:nvSpPr>
        <p:spPr>
          <a:xfrm>
            <a:off x="1691640" y="2313432"/>
            <a:ext cx="6949440" cy="365760"/>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Thành quả 2026 chuyển sang, không phải làm lại</a:t>
            </a:r>
            <a:endParaRPr lang="en-US" sz="1200" dirty="0"/>
          </a:p>
        </p:txBody>
      </p:sp>
      <p:sp>
        <p:nvSpPr>
          <p:cNvPr id="9" name="Text 7"/>
          <p:cNvSpPr txBox="1"/>
          <p:nvPr/>
        </p:nvSpPr>
        <p:spPr>
          <a:xfrm>
            <a:off x="9052560" y="2020824"/>
            <a:ext cx="2194560" cy="502920"/>
          </a:xfrm>
          <a:prstGeom prst="rect">
            <a:avLst/>
          </a:prstGeom>
          <a:noFill/>
          <a:ln/>
        </p:spPr>
        <p:txBody>
          <a:bodyPr wrap="square" lIns="0" tIns="0" rIns="0" bIns="0" rtlCol="0" anchor="ctr"/>
          <a:lstStyle/>
          <a:p>
            <a:pPr algn="r" indent="0" marL="0">
              <a:buNone/>
            </a:pPr>
            <a:r>
              <a:rPr lang="en-US" sz="2400" b="1" dirty="0">
                <a:solidFill>
                  <a:srgbClr val="5E067C"/>
                </a:solidFill>
                <a:latin typeface="Cambria" pitchFamily="34" charset="0"/>
                <a:ea typeface="Cambria" pitchFamily="34" charset="-122"/>
                <a:cs typeface="Cambria" pitchFamily="34" charset="-120"/>
              </a:rPr>
              <a:t>1,04 tỷ</a:t>
            </a:r>
            <a:endParaRPr lang="en-US" sz="2400" dirty="0"/>
          </a:p>
        </p:txBody>
      </p:sp>
      <p:sp>
        <p:nvSpPr>
          <p:cNvPr id="10" name="Shape 8"/>
          <p:cNvSpPr/>
          <p:nvPr/>
        </p:nvSpPr>
        <p:spPr>
          <a:xfrm>
            <a:off x="640080" y="3017520"/>
            <a:ext cx="10881360" cy="1188720"/>
          </a:xfrm>
          <a:prstGeom prst="roundRect">
            <a:avLst>
              <a:gd name="adj" fmla="val 4615"/>
            </a:avLst>
          </a:prstGeom>
          <a:solidFill>
            <a:srgbClr val="FFFFFF"/>
          </a:solidFill>
          <a:ln/>
          <a:effectLst>
            <a:outerShdw sx="100000" sy="100000" kx="0" ky="0" algn="bl" rotWithShape="0" blurRad="127000" dist="12700" dir="5400000">
              <a:srgbClr val="21135F">
                <a:alpha val="10000"/>
              </a:srgbClr>
            </a:outerShdw>
          </a:effectLst>
        </p:spPr>
      </p:sp>
      <p:sp>
        <p:nvSpPr>
          <p:cNvPr id="11" name="Shape 9"/>
          <p:cNvSpPr/>
          <p:nvPr/>
        </p:nvSpPr>
        <p:spPr>
          <a:xfrm>
            <a:off x="914400" y="3346704"/>
            <a:ext cx="530352" cy="530352"/>
          </a:xfrm>
          <a:prstGeom prst="ellipse">
            <a:avLst/>
          </a:prstGeom>
          <a:solidFill>
            <a:srgbClr val="5E067C"/>
          </a:solidFill>
          <a:ln/>
        </p:spPr>
      </p:sp>
      <p:sp>
        <p:nvSpPr>
          <p:cNvPr id="12" name="Text 10"/>
          <p:cNvSpPr txBox="1"/>
          <p:nvPr/>
        </p:nvSpPr>
        <p:spPr>
          <a:xfrm>
            <a:off x="914400" y="3429000"/>
            <a:ext cx="5303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91640" y="3273552"/>
            <a:ext cx="5669280" cy="347472"/>
          </a:xfrm>
          <a:prstGeom prst="rect">
            <a:avLst/>
          </a:prstGeom>
          <a:noFill/>
          <a:ln/>
        </p:spPr>
        <p:txBody>
          <a:bodyPr wrap="square" lIns="0" tIns="0" rIns="0" bIns="0" rtlCol="0" anchor="ctr"/>
          <a:lstStyle/>
          <a:p>
            <a:pPr indent="0" marL="0">
              <a:buNone/>
            </a:pPr>
            <a:r>
              <a:rPr lang="en-US" sz="1600" b="1" dirty="0">
                <a:solidFill>
                  <a:srgbClr val="1A0F4A"/>
                </a:solidFill>
                <a:latin typeface="Arial" pitchFamily="34" charset="0"/>
                <a:ea typeface="Arial" pitchFamily="34" charset="-122"/>
                <a:cs typeface="Arial" pitchFamily="34" charset="-120"/>
              </a:rPr>
              <a:t>Hoàn tất giai đoạn 2 của 8 toà</a:t>
            </a:r>
            <a:endParaRPr lang="en-US" sz="1600" dirty="0"/>
          </a:p>
        </p:txBody>
      </p:sp>
      <p:sp>
        <p:nvSpPr>
          <p:cNvPr id="14" name="Text 12"/>
          <p:cNvSpPr txBox="1"/>
          <p:nvPr/>
        </p:nvSpPr>
        <p:spPr>
          <a:xfrm>
            <a:off x="1691640" y="3639312"/>
            <a:ext cx="6949440" cy="365760"/>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147 → 189 đơn vị · tăng 28,6%</a:t>
            </a:r>
            <a:endParaRPr lang="en-US" sz="1200" dirty="0"/>
          </a:p>
        </p:txBody>
      </p:sp>
      <p:sp>
        <p:nvSpPr>
          <p:cNvPr id="15" name="Text 13"/>
          <p:cNvSpPr txBox="1"/>
          <p:nvPr/>
        </p:nvSpPr>
        <p:spPr>
          <a:xfrm>
            <a:off x="9052560" y="3346704"/>
            <a:ext cx="2194560" cy="502920"/>
          </a:xfrm>
          <a:prstGeom prst="rect">
            <a:avLst/>
          </a:prstGeom>
          <a:noFill/>
          <a:ln/>
        </p:spPr>
        <p:txBody>
          <a:bodyPr wrap="square" lIns="0" tIns="0" rIns="0" bIns="0" rtlCol="0" anchor="ctr"/>
          <a:lstStyle/>
          <a:p>
            <a:pPr algn="r" indent="0" marL="0">
              <a:buNone/>
            </a:pPr>
            <a:r>
              <a:rPr lang="en-US" sz="2400" b="1" dirty="0">
                <a:solidFill>
                  <a:srgbClr val="5E067C"/>
                </a:solidFill>
                <a:latin typeface="Cambria" pitchFamily="34" charset="0"/>
                <a:ea typeface="Cambria" pitchFamily="34" charset="-122"/>
                <a:cs typeface="Cambria" pitchFamily="34" charset="-120"/>
              </a:rPr>
              <a:t>0,52 tỷ</a:t>
            </a:r>
            <a:endParaRPr lang="en-US" sz="2400" dirty="0"/>
          </a:p>
        </p:txBody>
      </p:sp>
      <p:sp>
        <p:nvSpPr>
          <p:cNvPr id="16" name="Shape 14"/>
          <p:cNvSpPr/>
          <p:nvPr/>
        </p:nvSpPr>
        <p:spPr>
          <a:xfrm>
            <a:off x="640080" y="4343400"/>
            <a:ext cx="10881360" cy="1188720"/>
          </a:xfrm>
          <a:prstGeom prst="roundRect">
            <a:avLst>
              <a:gd name="adj" fmla="val 4615"/>
            </a:avLst>
          </a:prstGeom>
          <a:solidFill>
            <a:srgbClr val="FFFFFF"/>
          </a:solidFill>
          <a:ln/>
          <a:effectLst>
            <a:outerShdw sx="100000" sy="100000" kx="0" ky="0" algn="bl" rotWithShape="0" blurRad="127000" dist="12700" dir="5400000">
              <a:srgbClr val="21135F">
                <a:alpha val="10000"/>
              </a:srgbClr>
            </a:outerShdw>
          </a:effectLst>
        </p:spPr>
      </p:sp>
      <p:sp>
        <p:nvSpPr>
          <p:cNvPr id="17" name="Shape 15"/>
          <p:cNvSpPr/>
          <p:nvPr/>
        </p:nvSpPr>
        <p:spPr>
          <a:xfrm>
            <a:off x="914400" y="4672584"/>
            <a:ext cx="530352" cy="530352"/>
          </a:xfrm>
          <a:prstGeom prst="ellipse">
            <a:avLst/>
          </a:prstGeom>
          <a:solidFill>
            <a:srgbClr val="5E067C"/>
          </a:solidFill>
          <a:ln/>
        </p:spPr>
      </p:sp>
      <p:sp>
        <p:nvSpPr>
          <p:cNvPr id="18" name="Text 16"/>
          <p:cNvSpPr txBox="1"/>
          <p:nvPr/>
        </p:nvSpPr>
        <p:spPr>
          <a:xfrm>
            <a:off x="914400" y="4754880"/>
            <a:ext cx="5303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1691640" y="4599432"/>
            <a:ext cx="5669280" cy="347472"/>
          </a:xfrm>
          <a:prstGeom prst="rect">
            <a:avLst/>
          </a:prstGeom>
          <a:noFill/>
          <a:ln/>
        </p:spPr>
        <p:txBody>
          <a:bodyPr wrap="square" lIns="0" tIns="0" rIns="0" bIns="0" rtlCol="0" anchor="ctr"/>
          <a:lstStyle/>
          <a:p>
            <a:pPr indent="0" marL="0">
              <a:buNone/>
            </a:pPr>
            <a:r>
              <a:rPr lang="en-US" sz="1600" b="1" dirty="0">
                <a:solidFill>
                  <a:srgbClr val="1A0F4A"/>
                </a:solidFill>
                <a:latin typeface="Arial" pitchFamily="34" charset="0"/>
                <a:ea typeface="Arial" pitchFamily="34" charset="-122"/>
                <a:cs typeface="Arial" pitchFamily="34" charset="-120"/>
              </a:rPr>
              <a:t>Nhận vận hành hộ toà đầu tiên</a:t>
            </a:r>
            <a:endParaRPr lang="en-US" sz="1600" dirty="0"/>
          </a:p>
        </p:txBody>
      </p:sp>
      <p:sp>
        <p:nvSpPr>
          <p:cNvPr id="20" name="Text 18"/>
          <p:cNvSpPr txBox="1"/>
          <p:nvPr/>
        </p:nvSpPr>
        <p:spPr>
          <a:xfrm>
            <a:off x="1691640" y="4965192"/>
            <a:ext cx="6949440" cy="365760"/>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Thu phí 9% · không cần một đồng vốn nào</a:t>
            </a:r>
            <a:endParaRPr lang="en-US" sz="1200" dirty="0"/>
          </a:p>
        </p:txBody>
      </p:sp>
      <p:sp>
        <p:nvSpPr>
          <p:cNvPr id="21" name="Text 19"/>
          <p:cNvSpPr txBox="1"/>
          <p:nvPr/>
        </p:nvSpPr>
        <p:spPr>
          <a:xfrm>
            <a:off x="9052560" y="4672584"/>
            <a:ext cx="2194560" cy="502920"/>
          </a:xfrm>
          <a:prstGeom prst="rect">
            <a:avLst/>
          </a:prstGeom>
          <a:noFill/>
          <a:ln/>
        </p:spPr>
        <p:txBody>
          <a:bodyPr wrap="square" lIns="0" tIns="0" rIns="0" bIns="0" rtlCol="0" anchor="ctr"/>
          <a:lstStyle/>
          <a:p>
            <a:pPr algn="r" indent="0" marL="0">
              <a:buNone/>
            </a:pPr>
            <a:r>
              <a:rPr lang="en-US" sz="2400" b="1" dirty="0">
                <a:solidFill>
                  <a:srgbClr val="5E067C"/>
                </a:solidFill>
                <a:latin typeface="Cambria" pitchFamily="34" charset="0"/>
                <a:ea typeface="Cambria" pitchFamily="34" charset="-122"/>
                <a:cs typeface="Cambria" pitchFamily="34" charset="-120"/>
              </a:rPr>
              <a:t>0,05 tỷ</a:t>
            </a:r>
            <a:endParaRPr lang="en-US" sz="2400" dirty="0"/>
          </a:p>
        </p:txBody>
      </p:sp>
      <p:sp>
        <p:nvSpPr>
          <p:cNvPr id="22" name="Shape 20"/>
          <p:cNvSpPr/>
          <p:nvPr/>
        </p:nvSpPr>
        <p:spPr>
          <a:xfrm>
            <a:off x="640080" y="5806440"/>
            <a:ext cx="10881360" cy="914400"/>
          </a:xfrm>
          <a:prstGeom prst="roundRect">
            <a:avLst>
              <a:gd name="adj" fmla="val 6000"/>
            </a:avLst>
          </a:prstGeom>
          <a:solidFill>
            <a:srgbClr val="21135F"/>
          </a:solidFill>
          <a:ln/>
          <a:effectLst>
            <a:outerShdw sx="100000" sy="100000" kx="0" ky="0" algn="bl" rotWithShape="0" blurRad="127000" dist="12700" dir="5400000">
              <a:srgbClr val="21135F">
                <a:alpha val="10000"/>
              </a:srgbClr>
            </a:outerShdw>
          </a:effectLst>
        </p:spPr>
      </p:sp>
      <p:sp>
        <p:nvSpPr>
          <p:cNvPr id="23" name="Text 21"/>
          <p:cNvSpPr txBox="1"/>
          <p:nvPr/>
        </p:nvSpPr>
        <p:spPr>
          <a:xfrm>
            <a:off x="960120" y="6062472"/>
            <a:ext cx="10241280" cy="457200"/>
          </a:xfrm>
          <a:prstGeom prst="rect">
            <a:avLst/>
          </a:prstGeom>
          <a:noFill/>
          <a:ln/>
        </p:spPr>
        <p:txBody>
          <a:bodyPr wrap="square" lIns="0" tIns="0" rIns="0" bIns="0" rtlCol="0" anchor="ctr"/>
          <a:lstStyle/>
          <a:p>
            <a:pPr indent="0" marL="0">
              <a:buNone/>
            </a:pPr>
            <a:r>
              <a:rPr lang="en-US" sz="1500" i="1" dirty="0">
                <a:solidFill>
                  <a:srgbClr val="F0E0BA"/>
                </a:solidFill>
                <a:latin typeface="Arial" pitchFamily="34" charset="0"/>
                <a:ea typeface="Arial" pitchFamily="34" charset="-122"/>
                <a:cs typeface="Arial" pitchFamily="34" charset="-120"/>
              </a:rPr>
              <a:t>Không toà nào mới cần mua. Toàn bộ 1,6 tỷ đến từ việc khai thác hết những gì đã có trong tay.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GIAI ĐOẠN 3 · T1–T10 · MỤC TIÊU 3,2 TỶ</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2028 — Nhân rộng</a:t>
            </a:r>
            <a:endParaRPr lang="en-US" sz="3200" dirty="0"/>
          </a:p>
        </p:txBody>
      </p:sp>
      <p:sp>
        <p:nvSpPr>
          <p:cNvPr id="4" name="Shape 2"/>
          <p:cNvSpPr/>
          <p:nvPr/>
        </p:nvSpPr>
        <p:spPr>
          <a:xfrm>
            <a:off x="640080" y="1572768"/>
            <a:ext cx="10881360" cy="841248"/>
          </a:xfrm>
          <a:prstGeom prst="roundRect">
            <a:avLst>
              <a:gd name="adj" fmla="val 6522"/>
            </a:avLst>
          </a:prstGeom>
          <a:solidFill>
            <a:srgbClr val="FFFFFF"/>
          </a:solidFill>
          <a:ln/>
          <a:effectLst>
            <a:outerShdw sx="100000" sy="100000" kx="0" ky="0" algn="bl" rotWithShape="0" blurRad="127000" dist="12700" dir="5400000">
              <a:srgbClr val="21135F">
                <a:alpha val="10000"/>
              </a:srgbClr>
            </a:outerShdw>
          </a:effectLst>
        </p:spPr>
      </p:sp>
      <p:sp>
        <p:nvSpPr>
          <p:cNvPr id="5" name="Text 3"/>
          <p:cNvSpPr txBox="1"/>
          <p:nvPr/>
        </p:nvSpPr>
        <p:spPr>
          <a:xfrm>
            <a:off x="960120" y="1719072"/>
            <a:ext cx="5120640" cy="310896"/>
          </a:xfrm>
          <a:prstGeom prst="rect">
            <a:avLst/>
          </a:prstGeom>
          <a:noFill/>
          <a:ln/>
        </p:spPr>
        <p:txBody>
          <a:bodyPr wrap="square" lIns="0" tIns="0" rIns="0" bIns="0" rtlCol="0" anchor="ctr"/>
          <a:lstStyle/>
          <a:p>
            <a:pPr indent="0" marL="0">
              <a:buNone/>
            </a:pPr>
            <a:r>
              <a:rPr lang="en-US" sz="1500" b="1" dirty="0">
                <a:solidFill>
                  <a:srgbClr val="1A0F4A"/>
                </a:solidFill>
                <a:latin typeface="Arial" pitchFamily="34" charset="0"/>
                <a:ea typeface="Arial" pitchFamily="34" charset="-122"/>
                <a:cs typeface="Arial" pitchFamily="34" charset="-120"/>
              </a:rPr>
              <a:t>Nền hai năm trước</a:t>
            </a:r>
            <a:endParaRPr lang="en-US" sz="1500" dirty="0"/>
          </a:p>
        </p:txBody>
      </p:sp>
      <p:sp>
        <p:nvSpPr>
          <p:cNvPr id="6" name="Text 4"/>
          <p:cNvSpPr txBox="1"/>
          <p:nvPr/>
        </p:nvSpPr>
        <p:spPr>
          <a:xfrm>
            <a:off x="960120" y="2066544"/>
            <a:ext cx="7772400" cy="329184"/>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72 đơn vị chạy ở lấp đầy 90%</a:t>
            </a:r>
            <a:endParaRPr lang="en-US" sz="1200" dirty="0"/>
          </a:p>
        </p:txBody>
      </p:sp>
      <p:sp>
        <p:nvSpPr>
          <p:cNvPr id="7" name="Text 5"/>
          <p:cNvSpPr txBox="1"/>
          <p:nvPr/>
        </p:nvSpPr>
        <p:spPr>
          <a:xfrm>
            <a:off x="9052560" y="1755648"/>
            <a:ext cx="2194560" cy="457200"/>
          </a:xfrm>
          <a:prstGeom prst="rect">
            <a:avLst/>
          </a:prstGeom>
          <a:noFill/>
          <a:ln/>
        </p:spPr>
        <p:txBody>
          <a:bodyPr wrap="square" lIns="0" tIns="0" rIns="0" bIns="0" rtlCol="0" anchor="ctr"/>
          <a:lstStyle/>
          <a:p>
            <a:pPr algn="r" indent="0" marL="0">
              <a:buNone/>
            </a:pPr>
            <a:r>
              <a:rPr lang="en-US" sz="2200" b="1" dirty="0">
                <a:solidFill>
                  <a:srgbClr val="5E067C"/>
                </a:solidFill>
                <a:latin typeface="Cambria" pitchFamily="34" charset="0"/>
                <a:ea typeface="Cambria" pitchFamily="34" charset="-122"/>
                <a:cs typeface="Cambria" pitchFamily="34" charset="-120"/>
              </a:rPr>
              <a:t>1,87 tỷ</a:t>
            </a:r>
            <a:endParaRPr lang="en-US" sz="2200" dirty="0"/>
          </a:p>
        </p:txBody>
      </p:sp>
      <p:sp>
        <p:nvSpPr>
          <p:cNvPr id="8" name="Shape 6"/>
          <p:cNvSpPr/>
          <p:nvPr/>
        </p:nvSpPr>
        <p:spPr>
          <a:xfrm>
            <a:off x="640080" y="2532888"/>
            <a:ext cx="10881360" cy="841248"/>
          </a:xfrm>
          <a:prstGeom prst="roundRect">
            <a:avLst>
              <a:gd name="adj" fmla="val 6522"/>
            </a:avLst>
          </a:prstGeom>
          <a:solidFill>
            <a:srgbClr val="FFFFFF"/>
          </a:solidFill>
          <a:ln/>
          <a:effectLst>
            <a:outerShdw sx="100000" sy="100000" kx="0" ky="0" algn="bl" rotWithShape="0" blurRad="127000" dist="12700" dir="5400000">
              <a:srgbClr val="21135F">
                <a:alpha val="10000"/>
              </a:srgbClr>
            </a:outerShdw>
          </a:effectLst>
        </p:spPr>
      </p:sp>
      <p:sp>
        <p:nvSpPr>
          <p:cNvPr id="9" name="Text 7"/>
          <p:cNvSpPr txBox="1"/>
          <p:nvPr/>
        </p:nvSpPr>
        <p:spPr>
          <a:xfrm>
            <a:off x="960120" y="2679192"/>
            <a:ext cx="5120640" cy="310896"/>
          </a:xfrm>
          <a:prstGeom prst="rect">
            <a:avLst/>
          </a:prstGeom>
          <a:noFill/>
          <a:ln/>
        </p:spPr>
        <p:txBody>
          <a:bodyPr wrap="square" lIns="0" tIns="0" rIns="0" bIns="0" rtlCol="0" anchor="ctr"/>
          <a:lstStyle/>
          <a:p>
            <a:pPr indent="0" marL="0">
              <a:buNone/>
            </a:pPr>
            <a:r>
              <a:rPr lang="en-US" sz="1500" b="1" dirty="0">
                <a:solidFill>
                  <a:srgbClr val="1A0F4A"/>
                </a:solidFill>
                <a:latin typeface="Arial" pitchFamily="34" charset="0"/>
                <a:ea typeface="Arial" pitchFamily="34" charset="-122"/>
                <a:cs typeface="Arial" pitchFamily="34" charset="-120"/>
              </a:rPr>
              <a:t>3 toà mới nhận vận hành</a:t>
            </a:r>
            <a:endParaRPr lang="en-US" sz="1500" dirty="0"/>
          </a:p>
        </p:txBody>
      </p:sp>
      <p:sp>
        <p:nvSpPr>
          <p:cNvPr id="10" name="Text 8"/>
          <p:cNvSpPr txBox="1"/>
          <p:nvPr/>
        </p:nvSpPr>
        <p:spPr>
          <a:xfrm>
            <a:off x="960120" y="3026664"/>
            <a:ext cx="7772400" cy="329184"/>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63 đơn vị · hiệu lực bình quân 6 tháng</a:t>
            </a:r>
            <a:endParaRPr lang="en-US" sz="1200" dirty="0"/>
          </a:p>
        </p:txBody>
      </p:sp>
      <p:sp>
        <p:nvSpPr>
          <p:cNvPr id="11" name="Text 9"/>
          <p:cNvSpPr txBox="1"/>
          <p:nvPr/>
        </p:nvSpPr>
        <p:spPr>
          <a:xfrm>
            <a:off x="9052560" y="2715768"/>
            <a:ext cx="2194560" cy="457200"/>
          </a:xfrm>
          <a:prstGeom prst="rect">
            <a:avLst/>
          </a:prstGeom>
          <a:noFill/>
          <a:ln/>
        </p:spPr>
        <p:txBody>
          <a:bodyPr wrap="square" lIns="0" tIns="0" rIns="0" bIns="0" rtlCol="0" anchor="ctr"/>
          <a:lstStyle/>
          <a:p>
            <a:pPr algn="r" indent="0" marL="0">
              <a:buNone/>
            </a:pPr>
            <a:r>
              <a:rPr lang="en-US" sz="2200" b="1" dirty="0">
                <a:solidFill>
                  <a:srgbClr val="5E067C"/>
                </a:solidFill>
                <a:latin typeface="Cambria" pitchFamily="34" charset="0"/>
                <a:ea typeface="Cambria" pitchFamily="34" charset="-122"/>
                <a:cs typeface="Cambria" pitchFamily="34" charset="-120"/>
              </a:rPr>
              <a:t>0,93 tỷ</a:t>
            </a:r>
            <a:endParaRPr lang="en-US" sz="2200" dirty="0"/>
          </a:p>
        </p:txBody>
      </p:sp>
      <p:sp>
        <p:nvSpPr>
          <p:cNvPr id="12" name="Shape 10"/>
          <p:cNvSpPr/>
          <p:nvPr/>
        </p:nvSpPr>
        <p:spPr>
          <a:xfrm>
            <a:off x="640080" y="3493008"/>
            <a:ext cx="10881360" cy="841248"/>
          </a:xfrm>
          <a:prstGeom prst="roundRect">
            <a:avLst>
              <a:gd name="adj" fmla="val 6522"/>
            </a:avLst>
          </a:prstGeom>
          <a:solidFill>
            <a:srgbClr val="FFFFFF"/>
          </a:solidFill>
          <a:ln/>
          <a:effectLst>
            <a:outerShdw sx="100000" sy="100000" kx="0" ky="0" algn="bl" rotWithShape="0" blurRad="127000" dist="12700" dir="5400000">
              <a:srgbClr val="21135F">
                <a:alpha val="10000"/>
              </a:srgbClr>
            </a:outerShdw>
          </a:effectLst>
        </p:spPr>
      </p:sp>
      <p:sp>
        <p:nvSpPr>
          <p:cNvPr id="13" name="Text 11"/>
          <p:cNvSpPr txBox="1"/>
          <p:nvPr/>
        </p:nvSpPr>
        <p:spPr>
          <a:xfrm>
            <a:off x="960120" y="3639312"/>
            <a:ext cx="5120640" cy="310896"/>
          </a:xfrm>
          <a:prstGeom prst="rect">
            <a:avLst/>
          </a:prstGeom>
          <a:noFill/>
          <a:ln/>
        </p:spPr>
        <p:txBody>
          <a:bodyPr wrap="square" lIns="0" tIns="0" rIns="0" bIns="0" rtlCol="0" anchor="ctr"/>
          <a:lstStyle/>
          <a:p>
            <a:pPr indent="0" marL="0">
              <a:buNone/>
            </a:pPr>
            <a:r>
              <a:rPr lang="en-US" sz="1500" b="1" dirty="0">
                <a:solidFill>
                  <a:srgbClr val="1A0F4A"/>
                </a:solidFill>
                <a:latin typeface="Arial" pitchFamily="34" charset="0"/>
                <a:ea typeface="Arial" pitchFamily="34" charset="-122"/>
                <a:cs typeface="Arial" pitchFamily="34" charset="-120"/>
              </a:rPr>
              <a:t>Toà thứ tư</a:t>
            </a:r>
            <a:endParaRPr lang="en-US" sz="1500" dirty="0"/>
          </a:p>
        </p:txBody>
      </p:sp>
      <p:sp>
        <p:nvSpPr>
          <p:cNvPr id="14" name="Text 12"/>
          <p:cNvSpPr txBox="1"/>
          <p:nvPr/>
        </p:nvSpPr>
        <p:spPr>
          <a:xfrm>
            <a:off x="960120" y="3986784"/>
            <a:ext cx="7772400" cy="329184"/>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21 đơn vị — chính là toà đóng nốt khoảng cách</a:t>
            </a:r>
            <a:endParaRPr lang="en-US" sz="1200" dirty="0"/>
          </a:p>
        </p:txBody>
      </p:sp>
      <p:sp>
        <p:nvSpPr>
          <p:cNvPr id="15" name="Text 13"/>
          <p:cNvSpPr txBox="1"/>
          <p:nvPr/>
        </p:nvSpPr>
        <p:spPr>
          <a:xfrm>
            <a:off x="9052560" y="3675888"/>
            <a:ext cx="2194560" cy="457200"/>
          </a:xfrm>
          <a:prstGeom prst="rect">
            <a:avLst/>
          </a:prstGeom>
          <a:noFill/>
          <a:ln/>
        </p:spPr>
        <p:txBody>
          <a:bodyPr wrap="square" lIns="0" tIns="0" rIns="0" bIns="0" rtlCol="0" anchor="ctr"/>
          <a:lstStyle/>
          <a:p>
            <a:pPr algn="r" indent="0" marL="0">
              <a:buNone/>
            </a:pPr>
            <a:r>
              <a:rPr lang="en-US" sz="2200" b="1" dirty="0">
                <a:solidFill>
                  <a:srgbClr val="5E067C"/>
                </a:solidFill>
                <a:latin typeface="Cambria" pitchFamily="34" charset="0"/>
                <a:ea typeface="Cambria" pitchFamily="34" charset="-122"/>
                <a:cs typeface="Cambria" pitchFamily="34" charset="-120"/>
              </a:rPr>
              <a:t>0,31 tỷ</a:t>
            </a:r>
            <a:endParaRPr lang="en-US" sz="2200" dirty="0"/>
          </a:p>
        </p:txBody>
      </p:sp>
      <p:sp>
        <p:nvSpPr>
          <p:cNvPr id="16" name="Shape 14"/>
          <p:cNvSpPr/>
          <p:nvPr/>
        </p:nvSpPr>
        <p:spPr>
          <a:xfrm>
            <a:off x="640080" y="4453128"/>
            <a:ext cx="10881360" cy="841248"/>
          </a:xfrm>
          <a:prstGeom prst="roundRect">
            <a:avLst>
              <a:gd name="adj" fmla="val 6522"/>
            </a:avLst>
          </a:prstGeom>
          <a:solidFill>
            <a:srgbClr val="FFFFFF"/>
          </a:solidFill>
          <a:ln/>
          <a:effectLst>
            <a:outerShdw sx="100000" sy="100000" kx="0" ky="0" algn="bl" rotWithShape="0" blurRad="127000" dist="12700" dir="5400000">
              <a:srgbClr val="21135F">
                <a:alpha val="10000"/>
              </a:srgbClr>
            </a:outerShdw>
          </a:effectLst>
        </p:spPr>
      </p:sp>
      <p:sp>
        <p:nvSpPr>
          <p:cNvPr id="17" name="Text 15"/>
          <p:cNvSpPr txBox="1"/>
          <p:nvPr/>
        </p:nvSpPr>
        <p:spPr>
          <a:xfrm>
            <a:off x="960120" y="4599432"/>
            <a:ext cx="5120640" cy="310896"/>
          </a:xfrm>
          <a:prstGeom prst="rect">
            <a:avLst/>
          </a:prstGeom>
          <a:noFill/>
          <a:ln/>
        </p:spPr>
        <p:txBody>
          <a:bodyPr wrap="square" lIns="0" tIns="0" rIns="0" bIns="0" rtlCol="0" anchor="ctr"/>
          <a:lstStyle/>
          <a:p>
            <a:pPr indent="0" marL="0">
              <a:buNone/>
            </a:pPr>
            <a:r>
              <a:rPr lang="en-US" sz="1500" b="1" dirty="0">
                <a:solidFill>
                  <a:srgbClr val="1A0F4A"/>
                </a:solidFill>
                <a:latin typeface="Arial" pitchFamily="34" charset="0"/>
                <a:ea typeface="Arial" pitchFamily="34" charset="-122"/>
                <a:cs typeface="Arial" pitchFamily="34" charset="-120"/>
              </a:rPr>
              <a:t>Phí quản lý hộ 40 đơn vị</a:t>
            </a:r>
            <a:endParaRPr lang="en-US" sz="1500" dirty="0"/>
          </a:p>
        </p:txBody>
      </p:sp>
      <p:sp>
        <p:nvSpPr>
          <p:cNvPr id="18" name="Text 16"/>
          <p:cNvSpPr txBox="1"/>
          <p:nvPr/>
        </p:nvSpPr>
        <p:spPr>
          <a:xfrm>
            <a:off x="960120" y="4946904"/>
            <a:ext cx="7772400" cy="329184"/>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Mở rộng dịch vụ cho khách đầu tư</a:t>
            </a:r>
            <a:endParaRPr lang="en-US" sz="1200" dirty="0"/>
          </a:p>
        </p:txBody>
      </p:sp>
      <p:sp>
        <p:nvSpPr>
          <p:cNvPr id="19" name="Text 17"/>
          <p:cNvSpPr txBox="1"/>
          <p:nvPr/>
        </p:nvSpPr>
        <p:spPr>
          <a:xfrm>
            <a:off x="9052560" y="4636008"/>
            <a:ext cx="2194560" cy="457200"/>
          </a:xfrm>
          <a:prstGeom prst="rect">
            <a:avLst/>
          </a:prstGeom>
          <a:noFill/>
          <a:ln/>
        </p:spPr>
        <p:txBody>
          <a:bodyPr wrap="square" lIns="0" tIns="0" rIns="0" bIns="0" rtlCol="0" anchor="ctr"/>
          <a:lstStyle/>
          <a:p>
            <a:pPr algn="r" indent="0" marL="0">
              <a:buNone/>
            </a:pPr>
            <a:r>
              <a:rPr lang="en-US" sz="2200" b="1" dirty="0">
                <a:solidFill>
                  <a:srgbClr val="5E067C"/>
                </a:solidFill>
                <a:latin typeface="Cambria" pitchFamily="34" charset="0"/>
                <a:ea typeface="Cambria" pitchFamily="34" charset="-122"/>
                <a:cs typeface="Cambria" pitchFamily="34" charset="-120"/>
              </a:rPr>
              <a:t>0,17 tỷ</a:t>
            </a:r>
            <a:endParaRPr lang="en-US" sz="2200" dirty="0"/>
          </a:p>
        </p:txBody>
      </p:sp>
      <p:sp>
        <p:nvSpPr>
          <p:cNvPr id="20" name="Shape 18"/>
          <p:cNvSpPr/>
          <p:nvPr/>
        </p:nvSpPr>
        <p:spPr>
          <a:xfrm>
            <a:off x="640080" y="5522976"/>
            <a:ext cx="5349240" cy="1051560"/>
          </a:xfrm>
          <a:prstGeom prst="roundRect">
            <a:avLst>
              <a:gd name="adj" fmla="val 5217"/>
            </a:avLst>
          </a:prstGeom>
          <a:solidFill>
            <a:srgbClr val="FFF8E6"/>
          </a:solidFill>
          <a:ln/>
          <a:effectLst>
            <a:outerShdw sx="100000" sy="100000" kx="0" ky="0" algn="bl" rotWithShape="0" blurRad="127000" dist="12700" dir="5400000">
              <a:srgbClr val="21135F">
                <a:alpha val="10000"/>
              </a:srgbClr>
            </a:outerShdw>
          </a:effectLst>
        </p:spPr>
      </p:sp>
      <p:sp>
        <p:nvSpPr>
          <p:cNvPr id="21" name="Text 19"/>
          <p:cNvSpPr txBox="1"/>
          <p:nvPr/>
        </p:nvSpPr>
        <p:spPr>
          <a:xfrm>
            <a:off x="914400" y="5705856"/>
            <a:ext cx="4846320" cy="384048"/>
          </a:xfrm>
          <a:prstGeom prst="rect">
            <a:avLst/>
          </a:prstGeom>
          <a:noFill/>
          <a:ln/>
        </p:spPr>
        <p:txBody>
          <a:bodyPr wrap="square" lIns="0" tIns="0" rIns="0" bIns="0" rtlCol="0" anchor="ctr"/>
          <a:lstStyle/>
          <a:p>
            <a:pPr indent="0" marL="0">
              <a:buNone/>
            </a:pPr>
            <a:r>
              <a:rPr lang="en-US" sz="2100" b="1" dirty="0">
                <a:solidFill>
                  <a:srgbClr val="1A0F4A"/>
                </a:solidFill>
                <a:latin typeface="Cambria" pitchFamily="34" charset="0"/>
                <a:ea typeface="Cambria" pitchFamily="34" charset="-122"/>
                <a:cs typeface="Cambria" pitchFamily="34" charset="-120"/>
              </a:rPr>
              <a:t>252 đơn vị cuối kỳ</a:t>
            </a:r>
            <a:endParaRPr lang="en-US" sz="2100" dirty="0"/>
          </a:p>
        </p:txBody>
      </p:sp>
      <p:sp>
        <p:nvSpPr>
          <p:cNvPr id="22" name="Text 20"/>
          <p:cNvSpPr txBox="1"/>
          <p:nvPr/>
        </p:nvSpPr>
        <p:spPr>
          <a:xfrm>
            <a:off x="914400" y="6108192"/>
            <a:ext cx="4846320" cy="274320"/>
          </a:xfrm>
          <a:prstGeom prst="rect">
            <a:avLst/>
          </a:prstGeom>
          <a:noFill/>
          <a:ln/>
        </p:spPr>
        <p:txBody>
          <a:bodyPr wrap="square" lIns="0" tIns="0" rIns="0" bIns="0" rtlCol="0" anchor="ctr"/>
          <a:lstStyle/>
          <a:p>
            <a:pPr indent="0" marL="0">
              <a:buNone/>
            </a:pPr>
            <a:r>
              <a:rPr lang="en-US" sz="1200" dirty="0">
                <a:solidFill>
                  <a:srgbClr val="6B5E85"/>
                </a:solidFill>
                <a:latin typeface="Arial" pitchFamily="34" charset="0"/>
                <a:ea typeface="Arial" pitchFamily="34" charset="-122"/>
                <a:cs typeface="Arial" pitchFamily="34" charset="-120"/>
              </a:rPr>
              <a:t>Từ 147 lên 252 — tăng 71% trong hai năm</a:t>
            </a:r>
            <a:endParaRPr lang="en-US" sz="1200" dirty="0"/>
          </a:p>
        </p:txBody>
      </p:sp>
      <p:sp>
        <p:nvSpPr>
          <p:cNvPr id="23" name="Shape 21"/>
          <p:cNvSpPr/>
          <p:nvPr/>
        </p:nvSpPr>
        <p:spPr>
          <a:xfrm>
            <a:off x="6172200" y="5522976"/>
            <a:ext cx="5349240" cy="1051560"/>
          </a:xfrm>
          <a:prstGeom prst="roundRect">
            <a:avLst>
              <a:gd name="adj" fmla="val 5217"/>
            </a:avLst>
          </a:prstGeom>
          <a:solidFill>
            <a:srgbClr val="21135F"/>
          </a:solidFill>
          <a:ln/>
          <a:effectLst>
            <a:outerShdw sx="100000" sy="100000" kx="0" ky="0" algn="bl" rotWithShape="0" blurRad="127000" dist="12700" dir="5400000">
              <a:srgbClr val="21135F">
                <a:alpha val="10000"/>
              </a:srgbClr>
            </a:outerShdw>
          </a:effectLst>
        </p:spPr>
      </p:sp>
      <p:sp>
        <p:nvSpPr>
          <p:cNvPr id="24" name="Text 22"/>
          <p:cNvSpPr txBox="1"/>
          <p:nvPr/>
        </p:nvSpPr>
        <p:spPr>
          <a:xfrm>
            <a:off x="6446520" y="5687568"/>
            <a:ext cx="4846320" cy="384048"/>
          </a:xfrm>
          <a:prstGeom prst="rect">
            <a:avLst/>
          </a:prstGeom>
          <a:noFill/>
          <a:ln/>
        </p:spPr>
        <p:txBody>
          <a:bodyPr wrap="square" lIns="0" tIns="0" rIns="0" bIns="0" rtlCol="0" anchor="ctr"/>
          <a:lstStyle/>
          <a:p>
            <a:pPr indent="0" marL="0">
              <a:buNone/>
            </a:pPr>
            <a:r>
              <a:rPr lang="en-US" sz="1600" b="1" dirty="0">
                <a:solidFill>
                  <a:srgbClr val="F0E0BA"/>
                </a:solidFill>
                <a:latin typeface="Arial" pitchFamily="34" charset="0"/>
                <a:ea typeface="Arial" pitchFamily="34" charset="-122"/>
                <a:cs typeface="Arial" pitchFamily="34" charset="-120"/>
              </a:rPr>
              <a:t>Sau 30/06/2028 không nhận toà mới</a:t>
            </a:r>
            <a:endParaRPr lang="en-US" sz="1600" dirty="0"/>
          </a:p>
        </p:txBody>
      </p:sp>
      <p:sp>
        <p:nvSpPr>
          <p:cNvPr id="25" name="Text 23"/>
          <p:cNvSpPr txBox="1"/>
          <p:nvPr/>
        </p:nvSpPr>
        <p:spPr>
          <a:xfrm>
            <a:off x="6446520" y="6089904"/>
            <a:ext cx="4846320" cy="310896"/>
          </a:xfrm>
          <a:prstGeom prst="rect">
            <a:avLst/>
          </a:prstGeom>
          <a:noFill/>
          <a:ln/>
        </p:spPr>
        <p:txBody>
          <a:bodyPr wrap="square" lIns="0" tIns="0" rIns="0" bIns="0" rtlCol="0" anchor="ctr"/>
          <a:lstStyle/>
          <a:p>
            <a:pPr indent="0" marL="0">
              <a:buNone/>
            </a:pPr>
            <a:r>
              <a:rPr lang="en-US" sz="1150" dirty="0">
                <a:solidFill>
                  <a:srgbClr val="BFB2D8"/>
                </a:solidFill>
                <a:latin typeface="Arial" pitchFamily="34" charset="0"/>
                <a:ea typeface="Arial" pitchFamily="34" charset="-122"/>
                <a:cs typeface="Arial" pitchFamily="34" charset="-120"/>
              </a:rPr>
              <a:t>Toà nhận sau ngày đó không kịp đóng góp trước hạn chốt sổ</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TĂNG TRƯỞNG ĐƠN VỊ QUA BA MỐC</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Quy mô đơn vị khai thác</a:t>
            </a:r>
            <a:endParaRPr lang="en-US" sz="3200" dirty="0"/>
          </a:p>
        </p:txBody>
      </p:sp>
      <p:graphicFrame>
        <p:nvGraphicFramePr>
          <p:cNvPr id="4" name="Chart 0" descr=""/>
          <p:cNvGraphicFramePr/>
          <p:nvPr/>
        </p:nvGraphicFramePr>
        <p:xfrm>
          <a:off x="640080" y="1554480"/>
          <a:ext cx="64922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06640" y="1920240"/>
            <a:ext cx="4114800" cy="1600200"/>
          </a:xfrm>
          <a:prstGeom prst="roundRect">
            <a:avLst>
              <a:gd name="adj" fmla="val 3429"/>
            </a:avLst>
          </a:prstGeom>
          <a:solidFill>
            <a:srgbClr val="FFFFFF"/>
          </a:solidFill>
          <a:ln/>
          <a:effectLst>
            <a:outerShdw sx="100000" sy="100000" kx="0" ky="0" algn="bl" rotWithShape="0" blurRad="127000" dist="12700" dir="5400000">
              <a:srgbClr val="21135F">
                <a:alpha val="10000"/>
              </a:srgbClr>
            </a:outerShdw>
          </a:effectLst>
        </p:spPr>
      </p:sp>
      <p:sp>
        <p:nvSpPr>
          <p:cNvPr id="6" name="Text 3"/>
          <p:cNvSpPr txBox="1"/>
          <p:nvPr/>
        </p:nvSpPr>
        <p:spPr>
          <a:xfrm>
            <a:off x="7680960" y="2103120"/>
            <a:ext cx="3566160" cy="548640"/>
          </a:xfrm>
          <a:prstGeom prst="rect">
            <a:avLst/>
          </a:prstGeom>
          <a:noFill/>
          <a:ln/>
        </p:spPr>
        <p:txBody>
          <a:bodyPr wrap="square" lIns="0" tIns="0" rIns="0" bIns="0" rtlCol="0" anchor="ctr"/>
          <a:lstStyle/>
          <a:p>
            <a:pPr indent="0" marL="0">
              <a:buNone/>
            </a:pPr>
            <a:r>
              <a:rPr lang="en-US" sz="3200" b="1" dirty="0">
                <a:solidFill>
                  <a:srgbClr val="5E067C"/>
                </a:solidFill>
                <a:latin typeface="Cambria" pitchFamily="34" charset="0"/>
                <a:ea typeface="Cambria" pitchFamily="34" charset="-122"/>
                <a:cs typeface="Cambria" pitchFamily="34" charset="-120"/>
              </a:rPr>
              <a:t>+28,6%</a:t>
            </a:r>
            <a:endParaRPr lang="en-US" sz="3200" dirty="0"/>
          </a:p>
        </p:txBody>
      </p:sp>
      <p:sp>
        <p:nvSpPr>
          <p:cNvPr id="7" name="Text 4"/>
          <p:cNvSpPr txBox="1"/>
          <p:nvPr/>
        </p:nvSpPr>
        <p:spPr>
          <a:xfrm>
            <a:off x="7680960" y="2670048"/>
            <a:ext cx="3566160" cy="274320"/>
          </a:xfrm>
          <a:prstGeom prst="rect">
            <a:avLst/>
          </a:prstGeom>
          <a:noFill/>
          <a:ln/>
        </p:spPr>
        <p:txBody>
          <a:bodyPr wrap="square" lIns="0" tIns="0" rIns="0" bIns="0" rtlCol="0" anchor="ctr"/>
          <a:lstStyle/>
          <a:p>
            <a:pPr indent="0" marL="0">
              <a:buNone/>
            </a:pPr>
            <a:r>
              <a:rPr lang="en-US" sz="1200" b="1" spc="140" kern="0" dirty="0">
                <a:solidFill>
                  <a:srgbClr val="6B5E85"/>
                </a:solidFill>
                <a:latin typeface="Arial" pitchFamily="34" charset="0"/>
                <a:ea typeface="Arial" pitchFamily="34" charset="-122"/>
                <a:cs typeface="Arial" pitchFamily="34" charset="-120"/>
              </a:rPr>
              <a:t>2027</a:t>
            </a:r>
            <a:endParaRPr lang="en-US" sz="1200" dirty="0"/>
          </a:p>
        </p:txBody>
      </p:sp>
      <p:sp>
        <p:nvSpPr>
          <p:cNvPr id="8" name="Text 5"/>
          <p:cNvSpPr txBox="1"/>
          <p:nvPr/>
        </p:nvSpPr>
        <p:spPr>
          <a:xfrm>
            <a:off x="7680960" y="2944368"/>
            <a:ext cx="3566160" cy="502920"/>
          </a:xfrm>
          <a:prstGeom prst="rect">
            <a:avLst/>
          </a:prstGeom>
          <a:noFill/>
          <a:ln/>
        </p:spPr>
        <p:txBody>
          <a:bodyPr wrap="square" lIns="0" tIns="0" rIns="0" bIns="0" rtlCol="0" anchor="ctr"/>
          <a:lstStyle/>
          <a:p>
            <a:pPr indent="0" marL="0">
              <a:buNone/>
            </a:pPr>
            <a:r>
              <a:rPr lang="en-US" sz="1150" dirty="0">
                <a:solidFill>
                  <a:srgbClr val="4A3D6E"/>
                </a:solidFill>
                <a:latin typeface="Arial" pitchFamily="34" charset="0"/>
                <a:ea typeface="Arial" pitchFamily="34" charset="-122"/>
                <a:cs typeface="Arial" pitchFamily="34" charset="-120"/>
              </a:rPr>
              <a:t>Hoàn tất giai đoạn 2 của 8 toà hiện có — không mua thêm toà nào</a:t>
            </a:r>
            <a:endParaRPr lang="en-US" sz="1150" dirty="0"/>
          </a:p>
        </p:txBody>
      </p:sp>
      <p:sp>
        <p:nvSpPr>
          <p:cNvPr id="9" name="Shape 6"/>
          <p:cNvSpPr/>
          <p:nvPr/>
        </p:nvSpPr>
        <p:spPr>
          <a:xfrm>
            <a:off x="7406640" y="3749040"/>
            <a:ext cx="4114800" cy="1600200"/>
          </a:xfrm>
          <a:prstGeom prst="roundRect">
            <a:avLst>
              <a:gd name="adj" fmla="val 3429"/>
            </a:avLst>
          </a:prstGeom>
          <a:solidFill>
            <a:srgbClr val="FFFFFF"/>
          </a:solidFill>
          <a:ln/>
          <a:effectLst>
            <a:outerShdw sx="100000" sy="100000" kx="0" ky="0" algn="bl" rotWithShape="0" blurRad="127000" dist="12700" dir="5400000">
              <a:srgbClr val="21135F">
                <a:alpha val="10000"/>
              </a:srgbClr>
            </a:outerShdw>
          </a:effectLst>
        </p:spPr>
      </p:sp>
      <p:sp>
        <p:nvSpPr>
          <p:cNvPr id="10" name="Text 7"/>
          <p:cNvSpPr txBox="1"/>
          <p:nvPr/>
        </p:nvSpPr>
        <p:spPr>
          <a:xfrm>
            <a:off x="7680960" y="3931920"/>
            <a:ext cx="3566160" cy="548640"/>
          </a:xfrm>
          <a:prstGeom prst="rect">
            <a:avLst/>
          </a:prstGeom>
          <a:noFill/>
          <a:ln/>
        </p:spPr>
        <p:txBody>
          <a:bodyPr wrap="square" lIns="0" tIns="0" rIns="0" bIns="0" rtlCol="0" anchor="ctr"/>
          <a:lstStyle/>
          <a:p>
            <a:pPr indent="0" marL="0">
              <a:buNone/>
            </a:pPr>
            <a:r>
              <a:rPr lang="en-US" sz="3200" b="1" dirty="0">
                <a:solidFill>
                  <a:srgbClr val="5E067C"/>
                </a:solidFill>
                <a:latin typeface="Cambria" pitchFamily="34" charset="0"/>
                <a:ea typeface="Cambria" pitchFamily="34" charset="-122"/>
                <a:cs typeface="Cambria" pitchFamily="34" charset="-120"/>
              </a:rPr>
              <a:t>+33,3%</a:t>
            </a:r>
            <a:endParaRPr lang="en-US" sz="3200" dirty="0"/>
          </a:p>
        </p:txBody>
      </p:sp>
      <p:sp>
        <p:nvSpPr>
          <p:cNvPr id="11" name="Text 8"/>
          <p:cNvSpPr txBox="1"/>
          <p:nvPr/>
        </p:nvSpPr>
        <p:spPr>
          <a:xfrm>
            <a:off x="7680960" y="4498848"/>
            <a:ext cx="3566160" cy="274320"/>
          </a:xfrm>
          <a:prstGeom prst="rect">
            <a:avLst/>
          </a:prstGeom>
          <a:noFill/>
          <a:ln/>
        </p:spPr>
        <p:txBody>
          <a:bodyPr wrap="square" lIns="0" tIns="0" rIns="0" bIns="0" rtlCol="0" anchor="ctr"/>
          <a:lstStyle/>
          <a:p>
            <a:pPr indent="0" marL="0">
              <a:buNone/>
            </a:pPr>
            <a:r>
              <a:rPr lang="en-US" sz="1200" b="1" spc="140" kern="0" dirty="0">
                <a:solidFill>
                  <a:srgbClr val="6B5E85"/>
                </a:solidFill>
                <a:latin typeface="Arial" pitchFamily="34" charset="0"/>
                <a:ea typeface="Arial" pitchFamily="34" charset="-122"/>
                <a:cs typeface="Arial" pitchFamily="34" charset="-120"/>
              </a:rPr>
              <a:t>2028</a:t>
            </a:r>
            <a:endParaRPr lang="en-US" sz="1200" dirty="0"/>
          </a:p>
        </p:txBody>
      </p:sp>
      <p:sp>
        <p:nvSpPr>
          <p:cNvPr id="12" name="Text 9"/>
          <p:cNvSpPr txBox="1"/>
          <p:nvPr/>
        </p:nvSpPr>
        <p:spPr>
          <a:xfrm>
            <a:off x="7680960" y="4773168"/>
            <a:ext cx="3566160" cy="502920"/>
          </a:xfrm>
          <a:prstGeom prst="rect">
            <a:avLst/>
          </a:prstGeom>
          <a:noFill/>
          <a:ln/>
        </p:spPr>
        <p:txBody>
          <a:bodyPr wrap="square" lIns="0" tIns="0" rIns="0" bIns="0" rtlCol="0" anchor="ctr"/>
          <a:lstStyle/>
          <a:p>
            <a:pPr indent="0" marL="0">
              <a:buNone/>
            </a:pPr>
            <a:r>
              <a:rPr lang="en-US" sz="1150" dirty="0">
                <a:solidFill>
                  <a:srgbClr val="4A3D6E"/>
                </a:solidFill>
                <a:latin typeface="Arial" pitchFamily="34" charset="0"/>
                <a:ea typeface="Arial" pitchFamily="34" charset="-122"/>
                <a:cs typeface="Arial" pitchFamily="34" charset="-120"/>
              </a:rPr>
              <a:t>Thêm 4 toà nhận vận hành, 84 đơn vị</a:t>
            </a:r>
            <a:endParaRPr lang="en-US" sz="1150" dirty="0"/>
          </a:p>
        </p:txBody>
      </p:sp>
      <p:sp>
        <p:nvSpPr>
          <p:cNvPr id="13" name="Text 10"/>
          <p:cNvSpPr txBox="1"/>
          <p:nvPr/>
        </p:nvSpPr>
        <p:spPr>
          <a:xfrm>
            <a:off x="7406640" y="5577840"/>
            <a:ext cx="4114800" cy="365760"/>
          </a:xfrm>
          <a:prstGeom prst="rect">
            <a:avLst/>
          </a:prstGeom>
          <a:noFill/>
          <a:ln/>
        </p:spPr>
        <p:txBody>
          <a:bodyPr wrap="square" rtlCol="0" anchor="ctr"/>
          <a:lstStyle/>
          <a:p>
            <a:pPr indent="0" marL="0">
              <a:buNone/>
            </a:pPr>
            <a:r>
              <a:rPr lang="en-US" sz="1200" i="1" dirty="0">
                <a:solidFill>
                  <a:srgbClr val="6B5E85"/>
                </a:solidFill>
                <a:latin typeface="Arial" pitchFamily="34" charset="0"/>
                <a:ea typeface="Arial" pitchFamily="34" charset="-122"/>
                <a:cs typeface="Arial" pitchFamily="34" charset="-120"/>
              </a:rPr>
              <a:t>Tăng trưởng đến từ khai thác sâu trước, nhân rộng sau.</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MỘT DÒNG TIỀN, BỐN TẦNG — AI CHỊU TẦNG NÀO</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Hệ thống tài chính bộ phận</a:t>
            </a:r>
            <a:endParaRPr lang="en-US" sz="3200" dirty="0"/>
          </a:p>
        </p:txBody>
      </p:sp>
      <p:sp>
        <p:nvSpPr>
          <p:cNvPr id="4" name="Shape 2"/>
          <p:cNvSpPr/>
          <p:nvPr/>
        </p:nvSpPr>
        <p:spPr>
          <a:xfrm>
            <a:off x="640080" y="1645920"/>
            <a:ext cx="10881360" cy="932688"/>
          </a:xfrm>
          <a:prstGeom prst="roundRect">
            <a:avLst>
              <a:gd name="adj" fmla="val 5882"/>
            </a:avLst>
          </a:prstGeom>
          <a:solidFill>
            <a:srgbClr val="FFFFFF"/>
          </a:solidFill>
          <a:ln/>
          <a:effectLst>
            <a:outerShdw sx="100000" sy="100000" kx="0" ky="0" algn="bl" rotWithShape="0" blurRad="127000" dist="12700" dir="5400000">
              <a:srgbClr val="21135F">
                <a:alpha val="10000"/>
              </a:srgbClr>
            </a:outerShdw>
          </a:effectLst>
        </p:spPr>
      </p:sp>
      <p:sp>
        <p:nvSpPr>
          <p:cNvPr id="5" name="Text 3"/>
          <p:cNvSpPr txBox="1"/>
          <p:nvPr/>
        </p:nvSpPr>
        <p:spPr>
          <a:xfrm>
            <a:off x="960120" y="1810512"/>
            <a:ext cx="5760720" cy="329184"/>
          </a:xfrm>
          <a:prstGeom prst="rect">
            <a:avLst/>
          </a:prstGeom>
          <a:noFill/>
          <a:ln/>
        </p:spPr>
        <p:txBody>
          <a:bodyPr wrap="square" lIns="0" tIns="0" rIns="0" bIns="0" rtlCol="0" anchor="ctr"/>
          <a:lstStyle/>
          <a:p>
            <a:pPr indent="0" marL="0">
              <a:buNone/>
            </a:pPr>
            <a:r>
              <a:rPr lang="en-US" sz="1600" b="1" dirty="0">
                <a:solidFill>
                  <a:srgbClr val="1A0F4A"/>
                </a:solidFill>
                <a:latin typeface="Arial" pitchFamily="34" charset="0"/>
                <a:ea typeface="Arial" pitchFamily="34" charset="-122"/>
                <a:cs typeface="Arial" pitchFamily="34" charset="-120"/>
              </a:rPr>
              <a:t>Doanh thu cho thuê</a:t>
            </a:r>
            <a:endParaRPr lang="en-US" sz="1600" dirty="0"/>
          </a:p>
        </p:txBody>
      </p:sp>
      <p:sp>
        <p:nvSpPr>
          <p:cNvPr id="6" name="Text 4"/>
          <p:cNvSpPr txBox="1"/>
          <p:nvPr/>
        </p:nvSpPr>
        <p:spPr>
          <a:xfrm>
            <a:off x="960120" y="2176272"/>
            <a:ext cx="822960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Tiền thuê thu được thực tế</a:t>
            </a:r>
            <a:endParaRPr lang="en-US" sz="1150" dirty="0"/>
          </a:p>
        </p:txBody>
      </p:sp>
      <p:sp>
        <p:nvSpPr>
          <p:cNvPr id="7" name="Text 5"/>
          <p:cNvSpPr txBox="1"/>
          <p:nvPr/>
        </p:nvSpPr>
        <p:spPr>
          <a:xfrm>
            <a:off x="9418320" y="1865376"/>
            <a:ext cx="1828800" cy="457200"/>
          </a:xfrm>
          <a:prstGeom prst="rect">
            <a:avLst/>
          </a:prstGeom>
          <a:noFill/>
          <a:ln/>
        </p:spPr>
        <p:txBody>
          <a:bodyPr wrap="square" lIns="0" tIns="0" rIns="0" bIns="0" rtlCol="0" anchor="ctr"/>
          <a:lstStyle/>
          <a:p>
            <a:pPr algn="r" indent="0" marL="0">
              <a:buNone/>
            </a:pPr>
            <a:r>
              <a:rPr lang="en-US" sz="2400" b="1" dirty="0">
                <a:solidFill>
                  <a:srgbClr val="1A0F4A"/>
                </a:solidFill>
                <a:latin typeface="Cambria" pitchFamily="34" charset="0"/>
                <a:ea typeface="Cambria" pitchFamily="34" charset="-122"/>
                <a:cs typeface="Cambria" pitchFamily="34" charset="-120"/>
              </a:rPr>
              <a:t>100%</a:t>
            </a:r>
            <a:endParaRPr lang="en-US" sz="2400" dirty="0"/>
          </a:p>
        </p:txBody>
      </p:sp>
      <p:sp>
        <p:nvSpPr>
          <p:cNvPr id="8" name="Shape 6"/>
          <p:cNvSpPr/>
          <p:nvPr/>
        </p:nvSpPr>
        <p:spPr>
          <a:xfrm>
            <a:off x="640080" y="2633472"/>
            <a:ext cx="10881360" cy="932688"/>
          </a:xfrm>
          <a:prstGeom prst="roundRect">
            <a:avLst>
              <a:gd name="adj" fmla="val 5882"/>
            </a:avLst>
          </a:prstGeom>
          <a:solidFill>
            <a:srgbClr val="FFFFFF"/>
          </a:solidFill>
          <a:ln/>
          <a:effectLst>
            <a:outerShdw sx="100000" sy="100000" kx="0" ky="0" algn="bl" rotWithShape="0" blurRad="127000" dist="12700" dir="5400000">
              <a:srgbClr val="21135F">
                <a:alpha val="10000"/>
              </a:srgbClr>
            </a:outerShdw>
          </a:effectLst>
        </p:spPr>
      </p:sp>
      <p:sp>
        <p:nvSpPr>
          <p:cNvPr id="9" name="Text 7"/>
          <p:cNvSpPr txBox="1"/>
          <p:nvPr/>
        </p:nvSpPr>
        <p:spPr>
          <a:xfrm>
            <a:off x="960120" y="2798064"/>
            <a:ext cx="5760720" cy="329184"/>
          </a:xfrm>
          <a:prstGeom prst="rect">
            <a:avLst/>
          </a:prstGeom>
          <a:noFill/>
          <a:ln/>
        </p:spPr>
        <p:txBody>
          <a:bodyPr wrap="square" lIns="0" tIns="0" rIns="0" bIns="0" rtlCol="0" anchor="ctr"/>
          <a:lstStyle/>
          <a:p>
            <a:pPr indent="0" marL="0">
              <a:buNone/>
            </a:pPr>
            <a:r>
              <a:rPr lang="en-US" sz="1600" b="1" dirty="0">
                <a:solidFill>
                  <a:srgbClr val="B3253F"/>
                </a:solidFill>
                <a:latin typeface="Arial" pitchFamily="34" charset="0"/>
                <a:ea typeface="Arial" pitchFamily="34" charset="-122"/>
                <a:cs typeface="Arial" pitchFamily="34" charset="-120"/>
              </a:rPr>
              <a:t>− Chi phí vận hành trực tiếp</a:t>
            </a:r>
            <a:endParaRPr lang="en-US" sz="1600" dirty="0"/>
          </a:p>
        </p:txBody>
      </p:sp>
      <p:sp>
        <p:nvSpPr>
          <p:cNvPr id="10" name="Text 8"/>
          <p:cNvSpPr txBox="1"/>
          <p:nvPr/>
        </p:nvSpPr>
        <p:spPr>
          <a:xfrm>
            <a:off x="960120" y="3163824"/>
            <a:ext cx="822960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Nhân sự toà · dọn · điện nước chung · bảo trì · marketing · vật tư · dự phòng</a:t>
            </a:r>
            <a:endParaRPr lang="en-US" sz="1150" dirty="0"/>
          </a:p>
        </p:txBody>
      </p:sp>
      <p:sp>
        <p:nvSpPr>
          <p:cNvPr id="11" name="Text 9"/>
          <p:cNvSpPr txBox="1"/>
          <p:nvPr/>
        </p:nvSpPr>
        <p:spPr>
          <a:xfrm>
            <a:off x="9418320" y="2852928"/>
            <a:ext cx="1828800" cy="457200"/>
          </a:xfrm>
          <a:prstGeom prst="rect">
            <a:avLst/>
          </a:prstGeom>
          <a:noFill/>
          <a:ln/>
        </p:spPr>
        <p:txBody>
          <a:bodyPr wrap="square" lIns="0" tIns="0" rIns="0" bIns="0" rtlCol="0" anchor="ctr"/>
          <a:lstStyle/>
          <a:p>
            <a:pPr algn="r" indent="0" marL="0">
              <a:buNone/>
            </a:pPr>
            <a:r>
              <a:rPr lang="en-US" sz="2400" b="1" dirty="0">
                <a:solidFill>
                  <a:srgbClr val="B3253F"/>
                </a:solidFill>
                <a:latin typeface="Cambria" pitchFamily="34" charset="0"/>
                <a:ea typeface="Cambria" pitchFamily="34" charset="-122"/>
                <a:cs typeface="Cambria" pitchFamily="34" charset="-120"/>
              </a:rPr>
              <a:t>45%</a:t>
            </a:r>
            <a:endParaRPr lang="en-US" sz="2400" dirty="0"/>
          </a:p>
        </p:txBody>
      </p:sp>
      <p:sp>
        <p:nvSpPr>
          <p:cNvPr id="12" name="Shape 10"/>
          <p:cNvSpPr/>
          <p:nvPr/>
        </p:nvSpPr>
        <p:spPr>
          <a:xfrm>
            <a:off x="640080" y="3621024"/>
            <a:ext cx="10881360" cy="932688"/>
          </a:xfrm>
          <a:prstGeom prst="roundRect">
            <a:avLst>
              <a:gd name="adj" fmla="val 5882"/>
            </a:avLst>
          </a:prstGeom>
          <a:solidFill>
            <a:srgbClr val="FFF8E6"/>
          </a:solidFill>
          <a:ln/>
          <a:effectLst>
            <a:outerShdw sx="100000" sy="100000" kx="0" ky="0" algn="bl" rotWithShape="0" blurRad="127000" dist="12700" dir="5400000">
              <a:srgbClr val="21135F">
                <a:alpha val="10000"/>
              </a:srgbClr>
            </a:outerShdw>
          </a:effectLst>
        </p:spPr>
      </p:sp>
      <p:sp>
        <p:nvSpPr>
          <p:cNvPr id="13" name="Text 11"/>
          <p:cNvSpPr txBox="1"/>
          <p:nvPr/>
        </p:nvSpPr>
        <p:spPr>
          <a:xfrm>
            <a:off x="960120" y="3785616"/>
            <a:ext cx="5760720" cy="329184"/>
          </a:xfrm>
          <a:prstGeom prst="rect">
            <a:avLst/>
          </a:prstGeom>
          <a:noFill/>
          <a:ln/>
        </p:spPr>
        <p:txBody>
          <a:bodyPr wrap="square" lIns="0" tIns="0" rIns="0" bIns="0" rtlCol="0" anchor="ctr"/>
          <a:lstStyle/>
          <a:p>
            <a:pPr indent="0" marL="0">
              <a:buNone/>
            </a:pPr>
            <a:r>
              <a:rPr lang="en-US" sz="1600" b="1" dirty="0">
                <a:solidFill>
                  <a:srgbClr val="2E7D5B"/>
                </a:solidFill>
                <a:latin typeface="Arial" pitchFamily="34" charset="0"/>
                <a:ea typeface="Arial" pitchFamily="34" charset="-122"/>
                <a:cs typeface="Arial" pitchFamily="34" charset="-120"/>
              </a:rPr>
              <a:t>= NOI — bộ phận Cho Thuê chịu</a:t>
            </a:r>
            <a:endParaRPr lang="en-US" sz="1600" dirty="0"/>
          </a:p>
        </p:txBody>
      </p:sp>
      <p:sp>
        <p:nvSpPr>
          <p:cNvPr id="14" name="Text 12"/>
          <p:cNvSpPr txBox="1"/>
          <p:nvPr/>
        </p:nvSpPr>
        <p:spPr>
          <a:xfrm>
            <a:off x="960120" y="4151376"/>
            <a:ext cx="822960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ĐÂY LÀ CON SỐ BỘ PHẬN CHỊU TRÁCH NHIỆM</a:t>
            </a:r>
            <a:endParaRPr lang="en-US" sz="1150" dirty="0"/>
          </a:p>
        </p:txBody>
      </p:sp>
      <p:sp>
        <p:nvSpPr>
          <p:cNvPr id="15" name="Text 13"/>
          <p:cNvSpPr txBox="1"/>
          <p:nvPr/>
        </p:nvSpPr>
        <p:spPr>
          <a:xfrm>
            <a:off x="9418320" y="3840480"/>
            <a:ext cx="1828800" cy="457200"/>
          </a:xfrm>
          <a:prstGeom prst="rect">
            <a:avLst/>
          </a:prstGeom>
          <a:noFill/>
          <a:ln/>
        </p:spPr>
        <p:txBody>
          <a:bodyPr wrap="square" lIns="0" tIns="0" rIns="0" bIns="0" rtlCol="0" anchor="ctr"/>
          <a:lstStyle/>
          <a:p>
            <a:pPr algn="r" indent="0" marL="0">
              <a:buNone/>
            </a:pPr>
            <a:r>
              <a:rPr lang="en-US" sz="2400" b="1" dirty="0">
                <a:solidFill>
                  <a:srgbClr val="2E7D5B"/>
                </a:solidFill>
                <a:latin typeface="Cambria" pitchFamily="34" charset="0"/>
                <a:ea typeface="Cambria" pitchFamily="34" charset="-122"/>
                <a:cs typeface="Cambria" pitchFamily="34" charset="-120"/>
              </a:rPr>
              <a:t>55%</a:t>
            </a:r>
            <a:endParaRPr lang="en-US" sz="2400" dirty="0"/>
          </a:p>
        </p:txBody>
      </p:sp>
      <p:sp>
        <p:nvSpPr>
          <p:cNvPr id="16" name="Shape 14"/>
          <p:cNvSpPr/>
          <p:nvPr/>
        </p:nvSpPr>
        <p:spPr>
          <a:xfrm>
            <a:off x="640080" y="4608576"/>
            <a:ext cx="10881360" cy="932688"/>
          </a:xfrm>
          <a:prstGeom prst="roundRect">
            <a:avLst>
              <a:gd name="adj" fmla="val 5882"/>
            </a:avLst>
          </a:prstGeom>
          <a:solidFill>
            <a:srgbClr val="FFFFFF"/>
          </a:solidFill>
          <a:ln/>
          <a:effectLst>
            <a:outerShdw sx="100000" sy="100000" kx="0" ky="0" algn="bl" rotWithShape="0" blurRad="127000" dist="12700" dir="5400000">
              <a:srgbClr val="21135F">
                <a:alpha val="10000"/>
              </a:srgbClr>
            </a:outerShdw>
          </a:effectLst>
        </p:spPr>
      </p:sp>
      <p:sp>
        <p:nvSpPr>
          <p:cNvPr id="17" name="Text 15"/>
          <p:cNvSpPr txBox="1"/>
          <p:nvPr/>
        </p:nvSpPr>
        <p:spPr>
          <a:xfrm>
            <a:off x="960120" y="4773168"/>
            <a:ext cx="5760720" cy="329184"/>
          </a:xfrm>
          <a:prstGeom prst="rect">
            <a:avLst/>
          </a:prstGeom>
          <a:noFill/>
          <a:ln/>
        </p:spPr>
        <p:txBody>
          <a:bodyPr wrap="square" lIns="0" tIns="0" rIns="0" bIns="0" rtlCol="0" anchor="ctr"/>
          <a:lstStyle/>
          <a:p>
            <a:pPr indent="0" marL="0">
              <a:buNone/>
            </a:pPr>
            <a:r>
              <a:rPr lang="en-US" sz="1600" b="1" dirty="0">
                <a:solidFill>
                  <a:srgbClr val="6B5E85"/>
                </a:solidFill>
                <a:latin typeface="Arial" pitchFamily="34" charset="0"/>
                <a:ea typeface="Arial" pitchFamily="34" charset="-122"/>
                <a:cs typeface="Arial" pitchFamily="34" charset="-120"/>
              </a:rPr>
              <a:t>− Lãi vay</a:t>
            </a:r>
            <a:endParaRPr lang="en-US" sz="1600" dirty="0"/>
          </a:p>
        </p:txBody>
      </p:sp>
      <p:sp>
        <p:nvSpPr>
          <p:cNvPr id="18" name="Text 16"/>
          <p:cNvSpPr txBox="1"/>
          <p:nvPr/>
        </p:nvSpPr>
        <p:spPr>
          <a:xfrm>
            <a:off x="960120" y="5138928"/>
            <a:ext cx="822960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Thuộc bộ phận Vốn — KHÔNG tính vào bộ phận Cho Thuê</a:t>
            </a:r>
            <a:endParaRPr lang="en-US" sz="1150" dirty="0"/>
          </a:p>
        </p:txBody>
      </p:sp>
      <p:sp>
        <p:nvSpPr>
          <p:cNvPr id="19" name="Text 17"/>
          <p:cNvSpPr txBox="1"/>
          <p:nvPr/>
        </p:nvSpPr>
        <p:spPr>
          <a:xfrm>
            <a:off x="9418320" y="4828032"/>
            <a:ext cx="1828800" cy="457200"/>
          </a:xfrm>
          <a:prstGeom prst="rect">
            <a:avLst/>
          </a:prstGeom>
          <a:noFill/>
          <a:ln/>
        </p:spPr>
        <p:txBody>
          <a:bodyPr wrap="square" lIns="0" tIns="0" rIns="0" bIns="0" rtlCol="0" anchor="ctr"/>
          <a:lstStyle/>
          <a:p>
            <a:pPr algn="r" indent="0" marL="0">
              <a:buNone/>
            </a:pPr>
            <a:r>
              <a:rPr lang="en-US" sz="2400" b="1" dirty="0">
                <a:solidFill>
                  <a:srgbClr val="6B5E85"/>
                </a:solidFill>
                <a:latin typeface="Cambria" pitchFamily="34" charset="0"/>
                <a:ea typeface="Cambria" pitchFamily="34" charset="-122"/>
                <a:cs typeface="Cambria" pitchFamily="34" charset="-120"/>
              </a:rPr>
              <a:t>tuỳ</a:t>
            </a:r>
            <a:endParaRPr lang="en-US" sz="2400" dirty="0"/>
          </a:p>
        </p:txBody>
      </p:sp>
      <p:sp>
        <p:nvSpPr>
          <p:cNvPr id="20" name="Shape 18"/>
          <p:cNvSpPr/>
          <p:nvPr/>
        </p:nvSpPr>
        <p:spPr>
          <a:xfrm>
            <a:off x="640080" y="5687568"/>
            <a:ext cx="10881360" cy="868680"/>
          </a:xfrm>
          <a:prstGeom prst="roundRect">
            <a:avLst>
              <a:gd name="adj" fmla="val 6316"/>
            </a:avLst>
          </a:prstGeom>
          <a:solidFill>
            <a:srgbClr val="21135F"/>
          </a:solidFill>
          <a:ln/>
          <a:effectLst>
            <a:outerShdw sx="100000" sy="100000" kx="0" ky="0" algn="bl" rotWithShape="0" blurRad="127000" dist="12700" dir="5400000">
              <a:srgbClr val="21135F">
                <a:alpha val="10000"/>
              </a:srgbClr>
            </a:outerShdw>
          </a:effectLst>
        </p:spPr>
      </p:sp>
      <p:sp>
        <p:nvSpPr>
          <p:cNvPr id="21" name="Text 19"/>
          <p:cNvSpPr txBox="1"/>
          <p:nvPr/>
        </p:nvSpPr>
        <p:spPr>
          <a:xfrm>
            <a:off x="960120" y="5833872"/>
            <a:ext cx="10241280" cy="576072"/>
          </a:xfrm>
          <a:prstGeom prst="rect">
            <a:avLst/>
          </a:prstGeom>
          <a:noFill/>
          <a:ln/>
        </p:spPr>
        <p:txBody>
          <a:bodyPr wrap="square" lIns="0" tIns="0" rIns="0" bIns="0" rtlCol="0" anchor="ctr"/>
          <a:lstStyle/>
          <a:p>
            <a:pPr indent="0" marL="0">
              <a:buNone/>
            </a:pPr>
            <a:r>
              <a:rPr lang="en-US" sz="1300" i="1" dirty="0">
                <a:solidFill>
                  <a:srgbClr val="F0E0BA"/>
                </a:solidFill>
                <a:latin typeface="Arial" pitchFamily="34" charset="0"/>
                <a:ea typeface="Arial" pitchFamily="34" charset="-122"/>
                <a:cs typeface="Arial" pitchFamily="34" charset="-120"/>
              </a:rPr>
              <a:t>Biên NOI 55% hiện là GIẢ ĐỊNH lập kế hoạch — chi phí vận hành từng toà chưa từng được tách ra. Sau hai tháng có số thật, sửa lại trong file Excel và toàn bộ mục tiêu tự tính lại.</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NGÂN SÁCH THEO % DOANH THU</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Trần chi phí — bảy khoản, không có khoản thứ tám</a:t>
            </a:r>
            <a:endParaRPr lang="en-US" sz="3200" dirty="0"/>
          </a:p>
        </p:txBody>
      </p:sp>
      <p:sp>
        <p:nvSpPr>
          <p:cNvPr id="4" name="Shape 2"/>
          <p:cNvSpPr/>
          <p:nvPr/>
        </p:nvSpPr>
        <p:spPr>
          <a:xfrm>
            <a:off x="640080" y="169164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5" name="Text 3"/>
          <p:cNvSpPr txBox="1"/>
          <p:nvPr/>
        </p:nvSpPr>
        <p:spPr>
          <a:xfrm>
            <a:off x="868680" y="183794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12%</a:t>
            </a:r>
            <a:endParaRPr lang="en-US" sz="2600" dirty="0"/>
          </a:p>
        </p:txBody>
      </p:sp>
      <p:sp>
        <p:nvSpPr>
          <p:cNvPr id="6" name="Text 4"/>
          <p:cNvSpPr txBox="1"/>
          <p:nvPr/>
        </p:nvSpPr>
        <p:spPr>
          <a:xfrm>
            <a:off x="868680" y="233172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Nhân sự toà</a:t>
            </a:r>
            <a:endParaRPr lang="en-US" sz="1200" dirty="0"/>
          </a:p>
        </p:txBody>
      </p:sp>
      <p:sp>
        <p:nvSpPr>
          <p:cNvPr id="7" name="Shape 5"/>
          <p:cNvSpPr/>
          <p:nvPr/>
        </p:nvSpPr>
        <p:spPr>
          <a:xfrm>
            <a:off x="3429000" y="169164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8" name="Text 6"/>
          <p:cNvSpPr txBox="1"/>
          <p:nvPr/>
        </p:nvSpPr>
        <p:spPr>
          <a:xfrm>
            <a:off x="3657600" y="183794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9%</a:t>
            </a:r>
            <a:endParaRPr lang="en-US" sz="2600" dirty="0"/>
          </a:p>
        </p:txBody>
      </p:sp>
      <p:sp>
        <p:nvSpPr>
          <p:cNvPr id="9" name="Text 7"/>
          <p:cNvSpPr txBox="1"/>
          <p:nvPr/>
        </p:nvSpPr>
        <p:spPr>
          <a:xfrm>
            <a:off x="3657600" y="233172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Dọn phòng &amp; giặt là</a:t>
            </a:r>
            <a:endParaRPr lang="en-US" sz="1200" dirty="0"/>
          </a:p>
        </p:txBody>
      </p:sp>
      <p:sp>
        <p:nvSpPr>
          <p:cNvPr id="10" name="Shape 8"/>
          <p:cNvSpPr/>
          <p:nvPr/>
        </p:nvSpPr>
        <p:spPr>
          <a:xfrm>
            <a:off x="6217920" y="169164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11" name="Text 9"/>
          <p:cNvSpPr txBox="1"/>
          <p:nvPr/>
        </p:nvSpPr>
        <p:spPr>
          <a:xfrm>
            <a:off x="6446520" y="183794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8%</a:t>
            </a:r>
            <a:endParaRPr lang="en-US" sz="2600" dirty="0"/>
          </a:p>
        </p:txBody>
      </p:sp>
      <p:sp>
        <p:nvSpPr>
          <p:cNvPr id="12" name="Text 10"/>
          <p:cNvSpPr txBox="1"/>
          <p:nvPr/>
        </p:nvSpPr>
        <p:spPr>
          <a:xfrm>
            <a:off x="6446520" y="233172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Điện nước khu vực chung</a:t>
            </a:r>
            <a:endParaRPr lang="en-US" sz="1200" dirty="0"/>
          </a:p>
        </p:txBody>
      </p:sp>
      <p:sp>
        <p:nvSpPr>
          <p:cNvPr id="13" name="Shape 11"/>
          <p:cNvSpPr/>
          <p:nvPr/>
        </p:nvSpPr>
        <p:spPr>
          <a:xfrm>
            <a:off x="9006840" y="169164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14" name="Text 12"/>
          <p:cNvSpPr txBox="1"/>
          <p:nvPr/>
        </p:nvSpPr>
        <p:spPr>
          <a:xfrm>
            <a:off x="9235440" y="183794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6%</a:t>
            </a:r>
            <a:endParaRPr lang="en-US" sz="2600" dirty="0"/>
          </a:p>
        </p:txBody>
      </p:sp>
      <p:sp>
        <p:nvSpPr>
          <p:cNvPr id="15" name="Text 13"/>
          <p:cNvSpPr txBox="1"/>
          <p:nvPr/>
        </p:nvSpPr>
        <p:spPr>
          <a:xfrm>
            <a:off x="9235440" y="233172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Bảo trì &amp; sửa chữa nhỏ</a:t>
            </a:r>
            <a:endParaRPr lang="en-US" sz="1200" dirty="0"/>
          </a:p>
        </p:txBody>
      </p:sp>
      <p:sp>
        <p:nvSpPr>
          <p:cNvPr id="16" name="Shape 14"/>
          <p:cNvSpPr/>
          <p:nvPr/>
        </p:nvSpPr>
        <p:spPr>
          <a:xfrm>
            <a:off x="640080" y="292608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17" name="Text 15"/>
          <p:cNvSpPr txBox="1"/>
          <p:nvPr/>
        </p:nvSpPr>
        <p:spPr>
          <a:xfrm>
            <a:off x="868680" y="307238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4%</a:t>
            </a:r>
            <a:endParaRPr lang="en-US" sz="2600" dirty="0"/>
          </a:p>
        </p:txBody>
      </p:sp>
      <p:sp>
        <p:nvSpPr>
          <p:cNvPr id="18" name="Text 16"/>
          <p:cNvSpPr txBox="1"/>
          <p:nvPr/>
        </p:nvSpPr>
        <p:spPr>
          <a:xfrm>
            <a:off x="868680" y="356616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Marketing lấp phòng</a:t>
            </a:r>
            <a:endParaRPr lang="en-US" sz="1200" dirty="0"/>
          </a:p>
        </p:txBody>
      </p:sp>
      <p:sp>
        <p:nvSpPr>
          <p:cNvPr id="19" name="Shape 17"/>
          <p:cNvSpPr/>
          <p:nvPr/>
        </p:nvSpPr>
        <p:spPr>
          <a:xfrm>
            <a:off x="3429000" y="292608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20" name="Text 18"/>
          <p:cNvSpPr txBox="1"/>
          <p:nvPr/>
        </p:nvSpPr>
        <p:spPr>
          <a:xfrm>
            <a:off x="3657600" y="307238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3%</a:t>
            </a:r>
            <a:endParaRPr lang="en-US" sz="2600" dirty="0"/>
          </a:p>
        </p:txBody>
      </p:sp>
      <p:sp>
        <p:nvSpPr>
          <p:cNvPr id="21" name="Text 19"/>
          <p:cNvSpPr txBox="1"/>
          <p:nvPr/>
        </p:nvSpPr>
        <p:spPr>
          <a:xfrm>
            <a:off x="3657600" y="356616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Vật tư tiêu hao</a:t>
            </a:r>
            <a:endParaRPr lang="en-US" sz="1200" dirty="0"/>
          </a:p>
        </p:txBody>
      </p:sp>
      <p:sp>
        <p:nvSpPr>
          <p:cNvPr id="22" name="Shape 20"/>
          <p:cNvSpPr/>
          <p:nvPr/>
        </p:nvSpPr>
        <p:spPr>
          <a:xfrm>
            <a:off x="6217920" y="2926080"/>
            <a:ext cx="2606040" cy="1051560"/>
          </a:xfrm>
          <a:prstGeom prst="roundRect">
            <a:avLst>
              <a:gd name="adj" fmla="val 5217"/>
            </a:avLst>
          </a:prstGeom>
          <a:solidFill>
            <a:srgbClr val="FFFFFF"/>
          </a:solidFill>
          <a:ln/>
          <a:effectLst>
            <a:outerShdw sx="100000" sy="100000" kx="0" ky="0" algn="bl" rotWithShape="0" blurRad="127000" dist="12700" dir="5400000">
              <a:srgbClr val="21135F">
                <a:alpha val="10000"/>
              </a:srgbClr>
            </a:outerShdw>
          </a:effectLst>
        </p:spPr>
      </p:sp>
      <p:sp>
        <p:nvSpPr>
          <p:cNvPr id="23" name="Text 21"/>
          <p:cNvSpPr txBox="1"/>
          <p:nvPr/>
        </p:nvSpPr>
        <p:spPr>
          <a:xfrm>
            <a:off x="6446520" y="3072384"/>
            <a:ext cx="2148840" cy="457200"/>
          </a:xfrm>
          <a:prstGeom prst="rect">
            <a:avLst/>
          </a:prstGeom>
          <a:noFill/>
          <a:ln/>
        </p:spPr>
        <p:txBody>
          <a:bodyPr wrap="square" lIns="0" tIns="0" rIns="0" bIns="0" rtlCol="0" anchor="ctr"/>
          <a:lstStyle/>
          <a:p>
            <a:pPr indent="0" marL="0">
              <a:buNone/>
            </a:pPr>
            <a:r>
              <a:rPr lang="en-US" sz="2600" b="1" dirty="0">
                <a:solidFill>
                  <a:srgbClr val="5E067C"/>
                </a:solidFill>
                <a:latin typeface="Cambria" pitchFamily="34" charset="0"/>
                <a:ea typeface="Cambria" pitchFamily="34" charset="-122"/>
                <a:cs typeface="Cambria" pitchFamily="34" charset="-120"/>
              </a:rPr>
              <a:t>3%</a:t>
            </a:r>
            <a:endParaRPr lang="en-US" sz="2600" dirty="0"/>
          </a:p>
        </p:txBody>
      </p:sp>
      <p:sp>
        <p:nvSpPr>
          <p:cNvPr id="24" name="Text 22"/>
          <p:cNvSpPr txBox="1"/>
          <p:nvPr/>
        </p:nvSpPr>
        <p:spPr>
          <a:xfrm>
            <a:off x="6446520" y="3566160"/>
            <a:ext cx="2148840" cy="329184"/>
          </a:xfrm>
          <a:prstGeom prst="rect">
            <a:avLst/>
          </a:prstGeom>
          <a:noFill/>
          <a:ln/>
        </p:spPr>
        <p:txBody>
          <a:bodyPr wrap="square" lIns="0" tIns="0" rIns="0" bIns="0" rtlCol="0" anchor="ctr"/>
          <a:lstStyle/>
          <a:p>
            <a:pPr indent="0" marL="0">
              <a:buNone/>
            </a:pPr>
            <a:r>
              <a:rPr lang="en-US" sz="1200" dirty="0">
                <a:solidFill>
                  <a:srgbClr val="4A3D6E"/>
                </a:solidFill>
                <a:latin typeface="Arial" pitchFamily="34" charset="0"/>
                <a:ea typeface="Arial" pitchFamily="34" charset="-122"/>
                <a:cs typeface="Arial" pitchFamily="34" charset="-120"/>
              </a:rPr>
              <a:t>Dự phòng</a:t>
            </a:r>
            <a:endParaRPr lang="en-US" sz="1200" dirty="0"/>
          </a:p>
        </p:txBody>
      </p:sp>
      <p:sp>
        <p:nvSpPr>
          <p:cNvPr id="25" name="Shape 23"/>
          <p:cNvSpPr/>
          <p:nvPr/>
        </p:nvSpPr>
        <p:spPr>
          <a:xfrm>
            <a:off x="9006840" y="2926080"/>
            <a:ext cx="2514600" cy="1051560"/>
          </a:xfrm>
          <a:prstGeom prst="roundRect">
            <a:avLst>
              <a:gd name="adj" fmla="val 5217"/>
            </a:avLst>
          </a:prstGeom>
          <a:solidFill>
            <a:srgbClr val="21135F"/>
          </a:solidFill>
          <a:ln/>
          <a:effectLst>
            <a:outerShdw sx="100000" sy="100000" kx="0" ky="0" algn="bl" rotWithShape="0" blurRad="127000" dist="12700" dir="5400000">
              <a:srgbClr val="21135F">
                <a:alpha val="10000"/>
              </a:srgbClr>
            </a:outerShdw>
          </a:effectLst>
        </p:spPr>
      </p:sp>
      <p:sp>
        <p:nvSpPr>
          <p:cNvPr id="26" name="Text 24"/>
          <p:cNvSpPr txBox="1"/>
          <p:nvPr/>
        </p:nvSpPr>
        <p:spPr>
          <a:xfrm>
            <a:off x="9235440" y="3072384"/>
            <a:ext cx="2057400" cy="457200"/>
          </a:xfrm>
          <a:prstGeom prst="rect">
            <a:avLst/>
          </a:prstGeom>
          <a:noFill/>
          <a:ln/>
        </p:spPr>
        <p:txBody>
          <a:bodyPr wrap="square" lIns="0" tIns="0" rIns="0" bIns="0" rtlCol="0" anchor="ctr"/>
          <a:lstStyle/>
          <a:p>
            <a:pPr indent="0" marL="0">
              <a:buNone/>
            </a:pPr>
            <a:r>
              <a:rPr lang="en-US" sz="2600" b="1" dirty="0">
                <a:solidFill>
                  <a:srgbClr val="F0E0BA"/>
                </a:solidFill>
                <a:latin typeface="Cambria" pitchFamily="34" charset="0"/>
                <a:ea typeface="Cambria" pitchFamily="34" charset="-122"/>
                <a:cs typeface="Cambria" pitchFamily="34" charset="-120"/>
              </a:rPr>
              <a:t>45%</a:t>
            </a:r>
            <a:endParaRPr lang="en-US" sz="2600" dirty="0"/>
          </a:p>
        </p:txBody>
      </p:sp>
      <p:sp>
        <p:nvSpPr>
          <p:cNvPr id="27" name="Text 25"/>
          <p:cNvSpPr txBox="1"/>
          <p:nvPr/>
        </p:nvSpPr>
        <p:spPr>
          <a:xfrm>
            <a:off x="9235440" y="3566160"/>
            <a:ext cx="2057400" cy="329184"/>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Tổng trần chi phí</a:t>
            </a:r>
            <a:endParaRPr lang="en-US" sz="1200" dirty="0"/>
          </a:p>
        </p:txBody>
      </p:sp>
      <p:sp>
        <p:nvSpPr>
          <p:cNvPr id="28" name="Text 26"/>
          <p:cNvSpPr txBox="1"/>
          <p:nvPr/>
        </p:nvSpPr>
        <p:spPr>
          <a:xfrm>
            <a:off x="640080" y="4343400"/>
            <a:ext cx="10881360" cy="274320"/>
          </a:xfrm>
          <a:prstGeom prst="rect">
            <a:avLst/>
          </a:prstGeom>
          <a:noFill/>
          <a:ln/>
        </p:spPr>
        <p:txBody>
          <a:bodyPr wrap="square" rtlCol="0" anchor="ctr"/>
          <a:lstStyle/>
          <a:p>
            <a:pPr indent="0" marL="0">
              <a:buNone/>
            </a:pPr>
            <a:r>
              <a:rPr lang="en-US" sz="1100" b="1" spc="180" kern="0" dirty="0">
                <a:solidFill>
                  <a:srgbClr val="5E067C"/>
                </a:solidFill>
                <a:latin typeface="Arial" pitchFamily="34" charset="0"/>
                <a:ea typeface="Arial" pitchFamily="34" charset="-122"/>
                <a:cs typeface="Arial" pitchFamily="34" charset="-120"/>
              </a:rPr>
              <a:t>HẠN MỨC DUYỆT CHI</a:t>
            </a:r>
            <a:endParaRPr lang="en-US" sz="1100" dirty="0"/>
          </a:p>
        </p:txBody>
      </p:sp>
      <p:sp>
        <p:nvSpPr>
          <p:cNvPr id="29" name="Shape 27"/>
          <p:cNvSpPr/>
          <p:nvPr/>
        </p:nvSpPr>
        <p:spPr>
          <a:xfrm>
            <a:off x="640080" y="466344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0" name="Text 28"/>
          <p:cNvSpPr txBox="1"/>
          <p:nvPr/>
        </p:nvSpPr>
        <p:spPr>
          <a:xfrm>
            <a:off x="868680" y="4800600"/>
            <a:ext cx="2148840" cy="292608"/>
          </a:xfrm>
          <a:prstGeom prst="rect">
            <a:avLst/>
          </a:prstGeom>
          <a:noFill/>
          <a:ln/>
        </p:spPr>
        <p:txBody>
          <a:bodyPr wrap="square" lIns="0" tIns="0" rIns="0" bIns="0" rtlCol="0" anchor="ctr"/>
          <a:lstStyle/>
          <a:p>
            <a:pPr indent="0" marL="0">
              <a:buNone/>
            </a:pPr>
            <a:r>
              <a:rPr lang="en-US" sz="1300" b="1" dirty="0">
                <a:solidFill>
                  <a:srgbClr val="1A0F4A"/>
                </a:solidFill>
                <a:latin typeface="Arial" pitchFamily="34" charset="0"/>
                <a:ea typeface="Arial" pitchFamily="34" charset="-122"/>
                <a:cs typeface="Arial" pitchFamily="34" charset="-120"/>
              </a:rPr>
              <a:t>Trưởng toà</a:t>
            </a:r>
            <a:endParaRPr lang="en-US" sz="1300" dirty="0"/>
          </a:p>
        </p:txBody>
      </p:sp>
      <p:sp>
        <p:nvSpPr>
          <p:cNvPr id="31" name="Text 29"/>
          <p:cNvSpPr txBox="1"/>
          <p:nvPr/>
        </p:nvSpPr>
        <p:spPr>
          <a:xfrm>
            <a:off x="868680" y="5120640"/>
            <a:ext cx="214884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 2 tr/lần · ≤ 10 tr/tháng</a:t>
            </a:r>
            <a:endParaRPr lang="en-US" sz="1150" dirty="0"/>
          </a:p>
        </p:txBody>
      </p:sp>
      <p:sp>
        <p:nvSpPr>
          <p:cNvPr id="32" name="Shape 30"/>
          <p:cNvSpPr/>
          <p:nvPr/>
        </p:nvSpPr>
        <p:spPr>
          <a:xfrm>
            <a:off x="3429000" y="466344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3" name="Text 31"/>
          <p:cNvSpPr txBox="1"/>
          <p:nvPr/>
        </p:nvSpPr>
        <p:spPr>
          <a:xfrm>
            <a:off x="3657600" y="4800600"/>
            <a:ext cx="2148840" cy="292608"/>
          </a:xfrm>
          <a:prstGeom prst="rect">
            <a:avLst/>
          </a:prstGeom>
          <a:noFill/>
          <a:ln/>
        </p:spPr>
        <p:txBody>
          <a:bodyPr wrap="square" lIns="0" tIns="0" rIns="0" bIns="0" rtlCol="0" anchor="ctr"/>
          <a:lstStyle/>
          <a:p>
            <a:pPr indent="0" marL="0">
              <a:buNone/>
            </a:pPr>
            <a:r>
              <a:rPr lang="en-US" sz="1300" b="1" dirty="0">
                <a:solidFill>
                  <a:srgbClr val="1A0F4A"/>
                </a:solidFill>
                <a:latin typeface="Arial" pitchFamily="34" charset="0"/>
                <a:ea typeface="Arial" pitchFamily="34" charset="-122"/>
                <a:cs typeface="Arial" pitchFamily="34" charset="-120"/>
              </a:rPr>
              <a:t>Quản lý cụm</a:t>
            </a:r>
            <a:endParaRPr lang="en-US" sz="1300" dirty="0"/>
          </a:p>
        </p:txBody>
      </p:sp>
      <p:sp>
        <p:nvSpPr>
          <p:cNvPr id="34" name="Text 32"/>
          <p:cNvSpPr txBox="1"/>
          <p:nvPr/>
        </p:nvSpPr>
        <p:spPr>
          <a:xfrm>
            <a:off x="3657600" y="5120640"/>
            <a:ext cx="214884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 20 triệu/lần</a:t>
            </a:r>
            <a:endParaRPr lang="en-US" sz="1150" dirty="0"/>
          </a:p>
        </p:txBody>
      </p:sp>
      <p:sp>
        <p:nvSpPr>
          <p:cNvPr id="35" name="Shape 33"/>
          <p:cNvSpPr/>
          <p:nvPr/>
        </p:nvSpPr>
        <p:spPr>
          <a:xfrm>
            <a:off x="6217920" y="466344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6" name="Text 34"/>
          <p:cNvSpPr txBox="1"/>
          <p:nvPr/>
        </p:nvSpPr>
        <p:spPr>
          <a:xfrm>
            <a:off x="6446520" y="4800600"/>
            <a:ext cx="2148840" cy="292608"/>
          </a:xfrm>
          <a:prstGeom prst="rect">
            <a:avLst/>
          </a:prstGeom>
          <a:noFill/>
          <a:ln/>
        </p:spPr>
        <p:txBody>
          <a:bodyPr wrap="square" lIns="0" tIns="0" rIns="0" bIns="0" rtlCol="0" anchor="ctr"/>
          <a:lstStyle/>
          <a:p>
            <a:pPr indent="0" marL="0">
              <a:buNone/>
            </a:pPr>
            <a:r>
              <a:rPr lang="en-US" sz="1300" b="1" dirty="0">
                <a:solidFill>
                  <a:srgbClr val="1A0F4A"/>
                </a:solidFill>
                <a:latin typeface="Arial" pitchFamily="34" charset="0"/>
                <a:ea typeface="Arial" pitchFamily="34" charset="-122"/>
                <a:cs typeface="Arial" pitchFamily="34" charset="-120"/>
              </a:rPr>
              <a:t>GĐ Vận hành</a:t>
            </a:r>
            <a:endParaRPr lang="en-US" sz="1300" dirty="0"/>
          </a:p>
        </p:txBody>
      </p:sp>
      <p:sp>
        <p:nvSpPr>
          <p:cNvPr id="37" name="Text 35"/>
          <p:cNvSpPr txBox="1"/>
          <p:nvPr/>
        </p:nvSpPr>
        <p:spPr>
          <a:xfrm>
            <a:off x="6446520" y="5120640"/>
            <a:ext cx="214884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 100 triệu/lần</a:t>
            </a:r>
            <a:endParaRPr lang="en-US" sz="1150" dirty="0"/>
          </a:p>
        </p:txBody>
      </p:sp>
      <p:sp>
        <p:nvSpPr>
          <p:cNvPr id="38" name="Shape 36"/>
          <p:cNvSpPr/>
          <p:nvPr/>
        </p:nvSpPr>
        <p:spPr>
          <a:xfrm>
            <a:off x="9006840" y="466344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9" name="Text 37"/>
          <p:cNvSpPr txBox="1"/>
          <p:nvPr/>
        </p:nvSpPr>
        <p:spPr>
          <a:xfrm>
            <a:off x="9235440" y="4800600"/>
            <a:ext cx="2148840" cy="292608"/>
          </a:xfrm>
          <a:prstGeom prst="rect">
            <a:avLst/>
          </a:prstGeom>
          <a:noFill/>
          <a:ln/>
        </p:spPr>
        <p:txBody>
          <a:bodyPr wrap="square" lIns="0" tIns="0" rIns="0" bIns="0" rtlCol="0" anchor="ctr"/>
          <a:lstStyle/>
          <a:p>
            <a:pPr indent="0" marL="0">
              <a:buNone/>
            </a:pPr>
            <a:r>
              <a:rPr lang="en-US" sz="1300" b="1" dirty="0">
                <a:solidFill>
                  <a:srgbClr val="1A0F4A"/>
                </a:solidFill>
                <a:latin typeface="Arial" pitchFamily="34" charset="0"/>
                <a:ea typeface="Arial" pitchFamily="34" charset="-122"/>
                <a:cs typeface="Arial" pitchFamily="34" charset="-120"/>
              </a:rPr>
              <a:t>Anh Toàn</a:t>
            </a:r>
            <a:endParaRPr lang="en-US" sz="1300" dirty="0"/>
          </a:p>
        </p:txBody>
      </p:sp>
      <p:sp>
        <p:nvSpPr>
          <p:cNvPr id="40" name="Text 38"/>
          <p:cNvSpPr txBox="1"/>
          <p:nvPr/>
        </p:nvSpPr>
        <p:spPr>
          <a:xfrm>
            <a:off x="9235440" y="5120640"/>
            <a:ext cx="2148840" cy="384048"/>
          </a:xfrm>
          <a:prstGeom prst="rect">
            <a:avLst/>
          </a:prstGeom>
          <a:noFill/>
          <a:ln/>
        </p:spPr>
        <p:txBody>
          <a:bodyPr wrap="square" lIns="0" tIns="0" rIns="0" bIns="0" rtlCol="0" anchor="ctr"/>
          <a:lstStyle/>
          <a:p>
            <a:pPr indent="0" marL="0">
              <a:buNone/>
            </a:pPr>
            <a:r>
              <a:rPr lang="en-US" sz="1150" dirty="0">
                <a:solidFill>
                  <a:srgbClr val="6B5E85"/>
                </a:solidFill>
                <a:latin typeface="Arial" pitchFamily="34" charset="0"/>
                <a:ea typeface="Arial" pitchFamily="34" charset="-122"/>
                <a:cs typeface="Arial" pitchFamily="34" charset="-120"/>
              </a:rPr>
              <a:t>Trên 100 triệu</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135F"/>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274320"/>
          </a:xfrm>
          <a:prstGeom prst="rect">
            <a:avLst/>
          </a:prstGeom>
          <a:noFill/>
          <a:ln/>
        </p:spPr>
        <p:txBody>
          <a:bodyPr wrap="square" rtlCol="0" anchor="ctr"/>
          <a:lstStyle/>
          <a:p>
            <a:pPr indent="0" marL="0">
              <a:buNone/>
            </a:pPr>
            <a:r>
              <a:rPr lang="en-US" sz="1100" b="1" spc="250" kern="0" dirty="0">
                <a:solidFill>
                  <a:srgbClr val="F0E0BA"/>
                </a:solidFill>
                <a:latin typeface="Arial" pitchFamily="34" charset="0"/>
                <a:ea typeface="Arial" pitchFamily="34" charset="-122"/>
                <a:cs typeface="Arial" pitchFamily="34" charset="-120"/>
              </a:rPr>
              <a:t>CƠ CHẾ THƯỞNG</a:t>
            </a:r>
            <a:endParaRPr lang="en-US" sz="1100" dirty="0"/>
          </a:p>
        </p:txBody>
      </p:sp>
      <p:sp>
        <p:nvSpPr>
          <p:cNvPr id="3" name="Text 1"/>
          <p:cNvSpPr txBox="1"/>
          <p:nvPr/>
        </p:nvSpPr>
        <p:spPr>
          <a:xfrm>
            <a:off x="731520" y="1005840"/>
            <a:ext cx="1069848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Thưởng gắn vào kỷ luật báo cáo</a:t>
            </a:r>
            <a:endParaRPr lang="en-US" sz="4000" dirty="0"/>
          </a:p>
        </p:txBody>
      </p:sp>
      <p:sp>
        <p:nvSpPr>
          <p:cNvPr id="4" name="Shape 2"/>
          <p:cNvSpPr/>
          <p:nvPr/>
        </p:nvSpPr>
        <p:spPr>
          <a:xfrm>
            <a:off x="731520" y="2240280"/>
            <a:ext cx="10698480" cy="1143000"/>
          </a:xfrm>
          <a:prstGeom prst="roundRect">
            <a:avLst>
              <a:gd name="adj" fmla="val 4800"/>
            </a:avLst>
          </a:prstGeom>
          <a:solidFill>
            <a:srgbClr val="2E1F63"/>
          </a:solidFill>
          <a:ln/>
        </p:spPr>
      </p:sp>
      <p:sp>
        <p:nvSpPr>
          <p:cNvPr id="5" name="Text 3"/>
          <p:cNvSpPr txBox="1"/>
          <p:nvPr/>
        </p:nvSpPr>
        <p:spPr>
          <a:xfrm>
            <a:off x="1051560" y="2514600"/>
            <a:ext cx="2468880" cy="548640"/>
          </a:xfrm>
          <a:prstGeom prst="rect">
            <a:avLst/>
          </a:prstGeom>
          <a:noFill/>
          <a:ln/>
        </p:spPr>
        <p:txBody>
          <a:bodyPr wrap="square" lIns="0" tIns="0" rIns="0" bIns="0" rtlCol="0" anchor="ctr"/>
          <a:lstStyle/>
          <a:p>
            <a:pPr indent="0" marL="0">
              <a:buNone/>
            </a:pPr>
            <a:r>
              <a:rPr lang="en-US" sz="2800" b="1" dirty="0">
                <a:solidFill>
                  <a:srgbClr val="D4A856"/>
                </a:solidFill>
                <a:latin typeface="Cambria" pitchFamily="34" charset="0"/>
                <a:ea typeface="Cambria" pitchFamily="34" charset="-122"/>
                <a:cs typeface="Cambria" pitchFamily="34" charset="-120"/>
              </a:rPr>
              <a:t>10%</a:t>
            </a:r>
            <a:endParaRPr lang="en-US" sz="2800" dirty="0"/>
          </a:p>
        </p:txBody>
      </p:sp>
      <p:sp>
        <p:nvSpPr>
          <p:cNvPr id="6" name="Text 4"/>
          <p:cNvSpPr txBox="1"/>
          <p:nvPr/>
        </p:nvSpPr>
        <p:spPr>
          <a:xfrm>
            <a:off x="3749040" y="2441448"/>
            <a:ext cx="2743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Quỹ thưởng</a:t>
            </a:r>
            <a:endParaRPr lang="en-US" sz="1400" dirty="0"/>
          </a:p>
        </p:txBody>
      </p:sp>
      <p:sp>
        <p:nvSpPr>
          <p:cNvPr id="7" name="Text 5"/>
          <p:cNvSpPr txBox="1"/>
          <p:nvPr/>
        </p:nvSpPr>
        <p:spPr>
          <a:xfrm>
            <a:off x="3749040" y="2807208"/>
            <a:ext cx="7315200" cy="457200"/>
          </a:xfrm>
          <a:prstGeom prst="rect">
            <a:avLst/>
          </a:prstGeom>
          <a:noFill/>
          <a:ln/>
        </p:spPr>
        <p:txBody>
          <a:bodyPr wrap="square" lIns="0" tIns="0" rIns="0" bIns="0" rtlCol="0" anchor="ctr"/>
          <a:lstStyle/>
          <a:p>
            <a:pPr indent="0" marL="0">
              <a:buNone/>
            </a:pPr>
            <a:r>
              <a:rPr lang="en-US" sz="1250" dirty="0">
                <a:solidFill>
                  <a:srgbClr val="BFB2D8"/>
                </a:solidFill>
                <a:latin typeface="Arial" pitchFamily="34" charset="0"/>
                <a:ea typeface="Arial" pitchFamily="34" charset="-122"/>
                <a:cs typeface="Arial" pitchFamily="34" charset="-120"/>
              </a:rPr>
              <a:t>Trích 10% phần NOI vượt mục tiêu giao</a:t>
            </a:r>
            <a:endParaRPr lang="en-US" sz="1250" dirty="0"/>
          </a:p>
        </p:txBody>
      </p:sp>
      <p:sp>
        <p:nvSpPr>
          <p:cNvPr id="8" name="Shape 6"/>
          <p:cNvSpPr/>
          <p:nvPr/>
        </p:nvSpPr>
        <p:spPr>
          <a:xfrm>
            <a:off x="731520" y="3566160"/>
            <a:ext cx="10698480" cy="1143000"/>
          </a:xfrm>
          <a:prstGeom prst="roundRect">
            <a:avLst>
              <a:gd name="adj" fmla="val 4800"/>
            </a:avLst>
          </a:prstGeom>
          <a:solidFill>
            <a:srgbClr val="2E1F63"/>
          </a:solidFill>
          <a:ln/>
        </p:spPr>
      </p:sp>
      <p:sp>
        <p:nvSpPr>
          <p:cNvPr id="9" name="Text 7"/>
          <p:cNvSpPr txBox="1"/>
          <p:nvPr/>
        </p:nvSpPr>
        <p:spPr>
          <a:xfrm>
            <a:off x="1051560" y="3840480"/>
            <a:ext cx="2468880" cy="548640"/>
          </a:xfrm>
          <a:prstGeom prst="rect">
            <a:avLst/>
          </a:prstGeom>
          <a:noFill/>
          <a:ln/>
        </p:spPr>
        <p:txBody>
          <a:bodyPr wrap="square" lIns="0" tIns="0" rIns="0" bIns="0" rtlCol="0" anchor="ctr"/>
          <a:lstStyle/>
          <a:p>
            <a:pPr indent="0" marL="0">
              <a:buNone/>
            </a:pPr>
            <a:r>
              <a:rPr lang="en-US" sz="2800" b="1" dirty="0">
                <a:solidFill>
                  <a:srgbClr val="D4A856"/>
                </a:solidFill>
                <a:latin typeface="Cambria" pitchFamily="34" charset="0"/>
                <a:ea typeface="Cambria" pitchFamily="34" charset="-122"/>
                <a:cs typeface="Cambria" pitchFamily="34" charset="-120"/>
              </a:rPr>
              <a:t>50 / 30 / 20</a:t>
            </a:r>
            <a:endParaRPr lang="en-US" sz="2800" dirty="0"/>
          </a:p>
        </p:txBody>
      </p:sp>
      <p:sp>
        <p:nvSpPr>
          <p:cNvPr id="10" name="Text 8"/>
          <p:cNvSpPr txBox="1"/>
          <p:nvPr/>
        </p:nvSpPr>
        <p:spPr>
          <a:xfrm>
            <a:off x="3749040" y="3767328"/>
            <a:ext cx="2743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Cách chia</a:t>
            </a:r>
            <a:endParaRPr lang="en-US" sz="1400" dirty="0"/>
          </a:p>
        </p:txBody>
      </p:sp>
      <p:sp>
        <p:nvSpPr>
          <p:cNvPr id="11" name="Text 9"/>
          <p:cNvSpPr txBox="1"/>
          <p:nvPr/>
        </p:nvSpPr>
        <p:spPr>
          <a:xfrm>
            <a:off x="3749040" y="4133088"/>
            <a:ext cx="7315200" cy="457200"/>
          </a:xfrm>
          <a:prstGeom prst="rect">
            <a:avLst/>
          </a:prstGeom>
          <a:noFill/>
          <a:ln/>
        </p:spPr>
        <p:txBody>
          <a:bodyPr wrap="square" lIns="0" tIns="0" rIns="0" bIns="0" rtlCol="0" anchor="ctr"/>
          <a:lstStyle/>
          <a:p>
            <a:pPr indent="0" marL="0">
              <a:buNone/>
            </a:pPr>
            <a:r>
              <a:rPr lang="en-US" sz="1250" dirty="0">
                <a:solidFill>
                  <a:srgbClr val="BFB2D8"/>
                </a:solidFill>
                <a:latin typeface="Arial" pitchFamily="34" charset="0"/>
                <a:ea typeface="Arial" pitchFamily="34" charset="-122"/>
                <a:cs typeface="Arial" pitchFamily="34" charset="-120"/>
              </a:rPr>
              <a:t>Trưởng toà 50% · Quản lý cụm 30% · GĐ Vận hành 20%</a:t>
            </a:r>
            <a:endParaRPr lang="en-US" sz="1250" dirty="0"/>
          </a:p>
        </p:txBody>
      </p:sp>
      <p:sp>
        <p:nvSpPr>
          <p:cNvPr id="12" name="Shape 10"/>
          <p:cNvSpPr/>
          <p:nvPr/>
        </p:nvSpPr>
        <p:spPr>
          <a:xfrm>
            <a:off x="731520" y="4892040"/>
            <a:ext cx="10698480" cy="1143000"/>
          </a:xfrm>
          <a:prstGeom prst="roundRect">
            <a:avLst>
              <a:gd name="adj" fmla="val 4800"/>
            </a:avLst>
          </a:prstGeom>
          <a:solidFill>
            <a:srgbClr val="2E1F63"/>
          </a:solidFill>
          <a:ln/>
        </p:spPr>
      </p:sp>
      <p:sp>
        <p:nvSpPr>
          <p:cNvPr id="13" name="Text 11"/>
          <p:cNvSpPr txBox="1"/>
          <p:nvPr/>
        </p:nvSpPr>
        <p:spPr>
          <a:xfrm>
            <a:off x="1051560" y="5166360"/>
            <a:ext cx="2468880" cy="548640"/>
          </a:xfrm>
          <a:prstGeom prst="rect">
            <a:avLst/>
          </a:prstGeom>
          <a:noFill/>
          <a:ln/>
        </p:spPr>
        <p:txBody>
          <a:bodyPr wrap="square" lIns="0" tIns="0" rIns="0" bIns="0" rtlCol="0" anchor="ctr"/>
          <a:lstStyle/>
          <a:p>
            <a:pPr indent="0" marL="0">
              <a:buNone/>
            </a:pPr>
            <a:r>
              <a:rPr lang="en-US" sz="2800" b="1" dirty="0">
                <a:solidFill>
                  <a:srgbClr val="D4A856"/>
                </a:solidFill>
                <a:latin typeface="Cambria" pitchFamily="34" charset="0"/>
                <a:ea typeface="Cambria" pitchFamily="34" charset="-122"/>
                <a:cs typeface="Cambria" pitchFamily="34" charset="-120"/>
              </a:rPr>
              <a:t>12 / 12</a:t>
            </a:r>
            <a:endParaRPr lang="en-US" sz="2800" dirty="0"/>
          </a:p>
        </p:txBody>
      </p:sp>
      <p:sp>
        <p:nvSpPr>
          <p:cNvPr id="14" name="Text 12"/>
          <p:cNvSpPr txBox="1"/>
          <p:nvPr/>
        </p:nvSpPr>
        <p:spPr>
          <a:xfrm>
            <a:off x="3749040" y="5093208"/>
            <a:ext cx="2743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Điều kiện cứng</a:t>
            </a:r>
            <a:endParaRPr lang="en-US" sz="1400" dirty="0"/>
          </a:p>
        </p:txBody>
      </p:sp>
      <p:sp>
        <p:nvSpPr>
          <p:cNvPr id="15" name="Text 13"/>
          <p:cNvSpPr txBox="1"/>
          <p:nvPr/>
        </p:nvSpPr>
        <p:spPr>
          <a:xfrm>
            <a:off x="3749040" y="5458968"/>
            <a:ext cx="7315200" cy="457200"/>
          </a:xfrm>
          <a:prstGeom prst="rect">
            <a:avLst/>
          </a:prstGeom>
          <a:noFill/>
          <a:ln/>
        </p:spPr>
        <p:txBody>
          <a:bodyPr wrap="square" lIns="0" tIns="0" rIns="0" bIns="0" rtlCol="0" anchor="ctr"/>
          <a:lstStyle/>
          <a:p>
            <a:pPr indent="0" marL="0">
              <a:buNone/>
            </a:pPr>
            <a:r>
              <a:rPr lang="en-US" sz="1250" dirty="0">
                <a:solidFill>
                  <a:srgbClr val="BFB2D8"/>
                </a:solidFill>
                <a:latin typeface="Arial" pitchFamily="34" charset="0"/>
                <a:ea typeface="Arial" pitchFamily="34" charset="-122"/>
                <a:cs typeface="Arial" pitchFamily="34" charset="-120"/>
              </a:rPr>
              <a:t>Chỉ chi thưởng khi bốn chỉ số được nộp ĐÚNG HẠN đủ 12 kỳ trong năm</a:t>
            </a:r>
            <a:endParaRPr lang="en-US" sz="1250" dirty="0"/>
          </a:p>
        </p:txBody>
      </p:sp>
      <p:sp>
        <p:nvSpPr>
          <p:cNvPr id="16" name="Text 14"/>
          <p:cNvSpPr txBox="1"/>
          <p:nvPr/>
        </p:nvSpPr>
        <p:spPr>
          <a:xfrm>
            <a:off x="731520" y="5806440"/>
            <a:ext cx="10698480" cy="457200"/>
          </a:xfrm>
          <a:prstGeom prst="rect">
            <a:avLst/>
          </a:prstGeom>
          <a:noFill/>
          <a:ln/>
        </p:spPr>
        <p:txBody>
          <a:bodyPr wrap="square" rtlCol="0" anchor="ctr"/>
          <a:lstStyle/>
          <a:p>
            <a:pPr indent="0" marL="0">
              <a:buNone/>
            </a:pPr>
            <a:r>
              <a:rPr lang="en-US" sz="1400" i="1" dirty="0">
                <a:solidFill>
                  <a:srgbClr val="D4A856"/>
                </a:solidFill>
                <a:latin typeface="Arial" pitchFamily="34" charset="0"/>
                <a:ea typeface="Arial" pitchFamily="34" charset="-122"/>
                <a:cs typeface="Arial" pitchFamily="34" charset="-120"/>
              </a:rPr>
              <a:t>Vì sao buộc điều kiện báo cáo: thứ đang thiếu không phải nỗ lực, mà là kỷ luật đo lường. Gắn tiền vào đúng chỗ đang thiếu.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F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rtlCol="0" anchor="ctr"/>
          <a:lstStyle/>
          <a:p>
            <a:pPr indent="0" marL="0">
              <a:buNone/>
            </a:pPr>
            <a:r>
              <a:rPr lang="en-US" sz="1000" b="1" spc="220" kern="0" dirty="0">
                <a:solidFill>
                  <a:srgbClr val="5E067C"/>
                </a:solidFill>
                <a:latin typeface="Arial" pitchFamily="34" charset="0"/>
                <a:ea typeface="Arial" pitchFamily="34" charset="-122"/>
                <a:cs typeface="Arial" pitchFamily="34" charset="-120"/>
              </a:rPr>
              <a:t>ĐO TỪ THỨ HAI TUẦN NÀY</a:t>
            </a:r>
            <a:endParaRPr lang="en-US" sz="1000" dirty="0"/>
          </a:p>
        </p:txBody>
      </p:sp>
      <p:sp>
        <p:nvSpPr>
          <p:cNvPr id="3" name="Text 1"/>
          <p:cNvSpPr txBox="1"/>
          <p:nvPr/>
        </p:nvSpPr>
        <p:spPr>
          <a:xfrm>
            <a:off x="640080" y="658368"/>
            <a:ext cx="10881360" cy="685800"/>
          </a:xfrm>
          <a:prstGeom prst="rect">
            <a:avLst/>
          </a:prstGeom>
          <a:noFill/>
          <a:ln/>
        </p:spPr>
        <p:txBody>
          <a:bodyPr wrap="square" rtlCol="0" anchor="ctr"/>
          <a:lstStyle/>
          <a:p>
            <a:pPr indent="0" marL="0">
              <a:buNone/>
            </a:pPr>
            <a:r>
              <a:rPr lang="en-US" sz="3200" b="1" dirty="0">
                <a:solidFill>
                  <a:srgbClr val="1A0F4A"/>
                </a:solidFill>
                <a:latin typeface="Cambria" pitchFamily="34" charset="0"/>
                <a:ea typeface="Cambria" pitchFamily="34" charset="-122"/>
                <a:cs typeface="Cambria" pitchFamily="34" charset="-120"/>
              </a:rPr>
              <a:t>Bốn chỉ số và nhịp nộp</a:t>
            </a:r>
            <a:endParaRPr lang="en-US" sz="3200" dirty="0"/>
          </a:p>
        </p:txBody>
      </p:sp>
      <p:sp>
        <p:nvSpPr>
          <p:cNvPr id="4" name="Shape 2"/>
          <p:cNvSpPr/>
          <p:nvPr/>
        </p:nvSpPr>
        <p:spPr>
          <a:xfrm>
            <a:off x="640080" y="1645920"/>
            <a:ext cx="5349240" cy="1298448"/>
          </a:xfrm>
          <a:prstGeom prst="roundRect">
            <a:avLst>
              <a:gd name="adj" fmla="val 4225"/>
            </a:avLst>
          </a:prstGeom>
          <a:solidFill>
            <a:srgbClr val="FFFFFF"/>
          </a:solidFill>
          <a:ln/>
          <a:effectLst>
            <a:outerShdw sx="100000" sy="100000" kx="0" ky="0" algn="bl" rotWithShape="0" blurRad="127000" dist="12700" dir="5400000">
              <a:srgbClr val="21135F">
                <a:alpha val="10000"/>
              </a:srgbClr>
            </a:outerShdw>
          </a:effectLst>
        </p:spPr>
      </p:sp>
      <p:sp>
        <p:nvSpPr>
          <p:cNvPr id="5" name="Shape 3"/>
          <p:cNvSpPr/>
          <p:nvPr/>
        </p:nvSpPr>
        <p:spPr>
          <a:xfrm>
            <a:off x="868680" y="2029968"/>
            <a:ext cx="512064" cy="512064"/>
          </a:xfrm>
          <a:prstGeom prst="ellipse">
            <a:avLst/>
          </a:prstGeom>
          <a:solidFill>
            <a:srgbClr val="5E067C"/>
          </a:solidFill>
          <a:ln/>
        </p:spPr>
      </p:sp>
      <p:sp>
        <p:nvSpPr>
          <p:cNvPr id="6" name="Text 4"/>
          <p:cNvSpPr txBox="1"/>
          <p:nvPr/>
        </p:nvSpPr>
        <p:spPr>
          <a:xfrm>
            <a:off x="868680" y="2112264"/>
            <a:ext cx="512064"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554480" y="1828800"/>
            <a:ext cx="3017520" cy="329184"/>
          </a:xfrm>
          <a:prstGeom prst="rect">
            <a:avLst/>
          </a:prstGeom>
          <a:noFill/>
          <a:ln/>
        </p:spPr>
        <p:txBody>
          <a:bodyPr wrap="square" lIns="0" tIns="0" rIns="0" bIns="0" rtlCol="0" anchor="ctr"/>
          <a:lstStyle/>
          <a:p>
            <a:pPr indent="0" marL="0">
              <a:buNone/>
            </a:pPr>
            <a:r>
              <a:rPr lang="en-US" sz="1400" b="1" dirty="0">
                <a:solidFill>
                  <a:srgbClr val="1A0F4A"/>
                </a:solidFill>
                <a:latin typeface="Arial" pitchFamily="34" charset="0"/>
                <a:ea typeface="Arial" pitchFamily="34" charset="-122"/>
                <a:cs typeface="Arial" pitchFamily="34" charset="-120"/>
              </a:rPr>
              <a:t>Tỷ lệ lấp đầy</a:t>
            </a:r>
            <a:endParaRPr lang="en-US" sz="1400" dirty="0"/>
          </a:p>
        </p:txBody>
      </p:sp>
      <p:sp>
        <p:nvSpPr>
          <p:cNvPr id="8" name="Text 6"/>
          <p:cNvSpPr txBox="1"/>
          <p:nvPr/>
        </p:nvSpPr>
        <p:spPr>
          <a:xfrm>
            <a:off x="1554480" y="2176272"/>
            <a:ext cx="4114800" cy="640080"/>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Đơn vị có khách ÷ tổng đơn vị khả dụng</a:t>
            </a:r>
            <a:endParaRPr lang="en-US" sz="1100" dirty="0"/>
          </a:p>
        </p:txBody>
      </p:sp>
      <p:sp>
        <p:nvSpPr>
          <p:cNvPr id="9" name="Text 7"/>
          <p:cNvSpPr txBox="1"/>
          <p:nvPr/>
        </p:nvSpPr>
        <p:spPr>
          <a:xfrm>
            <a:off x="4617720" y="1810512"/>
            <a:ext cx="1143000" cy="329184"/>
          </a:xfrm>
          <a:prstGeom prst="rect">
            <a:avLst/>
          </a:prstGeom>
          <a:noFill/>
          <a:ln/>
        </p:spPr>
        <p:txBody>
          <a:bodyPr wrap="square" lIns="0" tIns="0" rIns="0" bIns="0" rtlCol="0" anchor="ctr"/>
          <a:lstStyle/>
          <a:p>
            <a:pPr algn="r" indent="0" marL="0">
              <a:buNone/>
            </a:pPr>
            <a:r>
              <a:rPr lang="en-US" sz="1300" b="1" dirty="0">
                <a:solidFill>
                  <a:srgbClr val="2E7D5B"/>
                </a:solidFill>
                <a:latin typeface="Arial" pitchFamily="34" charset="0"/>
                <a:ea typeface="Arial" pitchFamily="34" charset="-122"/>
                <a:cs typeface="Arial" pitchFamily="34" charset="-120"/>
              </a:rPr>
              <a:t>≥ 90%</a:t>
            </a:r>
            <a:endParaRPr lang="en-US" sz="1300" dirty="0"/>
          </a:p>
        </p:txBody>
      </p:sp>
      <p:sp>
        <p:nvSpPr>
          <p:cNvPr id="10" name="Shape 8"/>
          <p:cNvSpPr/>
          <p:nvPr/>
        </p:nvSpPr>
        <p:spPr>
          <a:xfrm>
            <a:off x="6172200" y="1645920"/>
            <a:ext cx="5349240" cy="1298448"/>
          </a:xfrm>
          <a:prstGeom prst="roundRect">
            <a:avLst>
              <a:gd name="adj" fmla="val 4225"/>
            </a:avLst>
          </a:prstGeom>
          <a:solidFill>
            <a:srgbClr val="FFFFFF"/>
          </a:solidFill>
          <a:ln/>
          <a:effectLst>
            <a:outerShdw sx="100000" sy="100000" kx="0" ky="0" algn="bl" rotWithShape="0" blurRad="127000" dist="12700" dir="5400000">
              <a:srgbClr val="21135F">
                <a:alpha val="10000"/>
              </a:srgbClr>
            </a:outerShdw>
          </a:effectLst>
        </p:spPr>
      </p:sp>
      <p:sp>
        <p:nvSpPr>
          <p:cNvPr id="11" name="Shape 9"/>
          <p:cNvSpPr/>
          <p:nvPr/>
        </p:nvSpPr>
        <p:spPr>
          <a:xfrm>
            <a:off x="6400800" y="2029968"/>
            <a:ext cx="512064" cy="512064"/>
          </a:xfrm>
          <a:prstGeom prst="ellipse">
            <a:avLst/>
          </a:prstGeom>
          <a:solidFill>
            <a:srgbClr val="5E067C"/>
          </a:solidFill>
          <a:ln/>
        </p:spPr>
      </p:sp>
      <p:sp>
        <p:nvSpPr>
          <p:cNvPr id="12" name="Text 10"/>
          <p:cNvSpPr txBox="1"/>
          <p:nvPr/>
        </p:nvSpPr>
        <p:spPr>
          <a:xfrm>
            <a:off x="6400800" y="2112264"/>
            <a:ext cx="512064"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7086600" y="1828800"/>
            <a:ext cx="3017520" cy="329184"/>
          </a:xfrm>
          <a:prstGeom prst="rect">
            <a:avLst/>
          </a:prstGeom>
          <a:noFill/>
          <a:ln/>
        </p:spPr>
        <p:txBody>
          <a:bodyPr wrap="square" lIns="0" tIns="0" rIns="0" bIns="0" rtlCol="0" anchor="ctr"/>
          <a:lstStyle/>
          <a:p>
            <a:pPr indent="0" marL="0">
              <a:buNone/>
            </a:pPr>
            <a:r>
              <a:rPr lang="en-US" sz="1400" b="1" dirty="0">
                <a:solidFill>
                  <a:srgbClr val="1A0F4A"/>
                </a:solidFill>
                <a:latin typeface="Arial" pitchFamily="34" charset="0"/>
                <a:ea typeface="Arial" pitchFamily="34" charset="-122"/>
                <a:cs typeface="Arial" pitchFamily="34" charset="-120"/>
              </a:rPr>
              <a:t>Doanh thu / đơn vị khả dụng</a:t>
            </a:r>
            <a:endParaRPr lang="en-US" sz="1400" dirty="0"/>
          </a:p>
        </p:txBody>
      </p:sp>
      <p:sp>
        <p:nvSpPr>
          <p:cNvPr id="14" name="Text 12"/>
          <p:cNvSpPr txBox="1"/>
          <p:nvPr/>
        </p:nvSpPr>
        <p:spPr>
          <a:xfrm>
            <a:off x="7086600" y="2176272"/>
            <a:ext cx="4114800" cy="640080"/>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Tổng doanh thu ÷ tổng đơn vị</a:t>
            </a:r>
            <a:endParaRPr lang="en-US" sz="1100" dirty="0"/>
          </a:p>
        </p:txBody>
      </p:sp>
      <p:sp>
        <p:nvSpPr>
          <p:cNvPr id="15" name="Text 13"/>
          <p:cNvSpPr txBox="1"/>
          <p:nvPr/>
        </p:nvSpPr>
        <p:spPr>
          <a:xfrm>
            <a:off x="10149840" y="1810512"/>
            <a:ext cx="1143000" cy="329184"/>
          </a:xfrm>
          <a:prstGeom prst="rect">
            <a:avLst/>
          </a:prstGeom>
          <a:noFill/>
          <a:ln/>
        </p:spPr>
        <p:txBody>
          <a:bodyPr wrap="square" lIns="0" tIns="0" rIns="0" bIns="0" rtlCol="0" anchor="ctr"/>
          <a:lstStyle/>
          <a:p>
            <a:pPr algn="r" indent="0" marL="0">
              <a:buNone/>
            </a:pPr>
            <a:r>
              <a:rPr lang="en-US" sz="1300" b="1" dirty="0">
                <a:solidFill>
                  <a:srgbClr val="2E7D5B"/>
                </a:solidFill>
                <a:latin typeface="Arial" pitchFamily="34" charset="0"/>
                <a:ea typeface="Arial" pitchFamily="34" charset="-122"/>
                <a:cs typeface="Arial" pitchFamily="34" charset="-120"/>
              </a:rPr>
              <a:t>≥ 4,7 tr</a:t>
            </a:r>
            <a:endParaRPr lang="en-US" sz="1300" dirty="0"/>
          </a:p>
        </p:txBody>
      </p:sp>
      <p:sp>
        <p:nvSpPr>
          <p:cNvPr id="16" name="Shape 14"/>
          <p:cNvSpPr/>
          <p:nvPr/>
        </p:nvSpPr>
        <p:spPr>
          <a:xfrm>
            <a:off x="640080" y="3108960"/>
            <a:ext cx="5349240" cy="1298448"/>
          </a:xfrm>
          <a:prstGeom prst="roundRect">
            <a:avLst>
              <a:gd name="adj" fmla="val 4225"/>
            </a:avLst>
          </a:prstGeom>
          <a:solidFill>
            <a:srgbClr val="FFFFFF"/>
          </a:solidFill>
          <a:ln/>
          <a:effectLst>
            <a:outerShdw sx="100000" sy="100000" kx="0" ky="0" algn="bl" rotWithShape="0" blurRad="127000" dist="12700" dir="5400000">
              <a:srgbClr val="21135F">
                <a:alpha val="10000"/>
              </a:srgbClr>
            </a:outerShdw>
          </a:effectLst>
        </p:spPr>
      </p:sp>
      <p:sp>
        <p:nvSpPr>
          <p:cNvPr id="17" name="Shape 15"/>
          <p:cNvSpPr/>
          <p:nvPr/>
        </p:nvSpPr>
        <p:spPr>
          <a:xfrm>
            <a:off x="868680" y="3493008"/>
            <a:ext cx="512064" cy="512064"/>
          </a:xfrm>
          <a:prstGeom prst="ellipse">
            <a:avLst/>
          </a:prstGeom>
          <a:solidFill>
            <a:srgbClr val="5E067C"/>
          </a:solidFill>
          <a:ln/>
        </p:spPr>
      </p:sp>
      <p:sp>
        <p:nvSpPr>
          <p:cNvPr id="18" name="Text 16"/>
          <p:cNvSpPr txBox="1"/>
          <p:nvPr/>
        </p:nvSpPr>
        <p:spPr>
          <a:xfrm>
            <a:off x="868680" y="3575304"/>
            <a:ext cx="512064"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1554480" y="3291840"/>
            <a:ext cx="3017520" cy="329184"/>
          </a:xfrm>
          <a:prstGeom prst="rect">
            <a:avLst/>
          </a:prstGeom>
          <a:noFill/>
          <a:ln/>
        </p:spPr>
        <p:txBody>
          <a:bodyPr wrap="square" lIns="0" tIns="0" rIns="0" bIns="0" rtlCol="0" anchor="ctr"/>
          <a:lstStyle/>
          <a:p>
            <a:pPr indent="0" marL="0">
              <a:buNone/>
            </a:pPr>
            <a:r>
              <a:rPr lang="en-US" sz="1400" b="1" dirty="0">
                <a:solidFill>
                  <a:srgbClr val="1A0F4A"/>
                </a:solidFill>
                <a:latin typeface="Arial" pitchFamily="34" charset="0"/>
                <a:ea typeface="Arial" pitchFamily="34" charset="-122"/>
                <a:cs typeface="Arial" pitchFamily="34" charset="-120"/>
              </a:rPr>
              <a:t>Số ngày lấp một phòng trống</a:t>
            </a:r>
            <a:endParaRPr lang="en-US" sz="1400" dirty="0"/>
          </a:p>
        </p:txBody>
      </p:sp>
      <p:sp>
        <p:nvSpPr>
          <p:cNvPr id="20" name="Text 18"/>
          <p:cNvSpPr txBox="1"/>
          <p:nvPr/>
        </p:nvSpPr>
        <p:spPr>
          <a:xfrm>
            <a:off x="1554480" y="3639312"/>
            <a:ext cx="4114800" cy="640080"/>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Từ ngày khách cũ trả → khách mới ký</a:t>
            </a:r>
            <a:endParaRPr lang="en-US" sz="1100" dirty="0"/>
          </a:p>
        </p:txBody>
      </p:sp>
      <p:sp>
        <p:nvSpPr>
          <p:cNvPr id="21" name="Text 19"/>
          <p:cNvSpPr txBox="1"/>
          <p:nvPr/>
        </p:nvSpPr>
        <p:spPr>
          <a:xfrm>
            <a:off x="4617720" y="3273552"/>
            <a:ext cx="1143000" cy="329184"/>
          </a:xfrm>
          <a:prstGeom prst="rect">
            <a:avLst/>
          </a:prstGeom>
          <a:noFill/>
          <a:ln/>
        </p:spPr>
        <p:txBody>
          <a:bodyPr wrap="square" lIns="0" tIns="0" rIns="0" bIns="0" rtlCol="0" anchor="ctr"/>
          <a:lstStyle/>
          <a:p>
            <a:pPr algn="r" indent="0" marL="0">
              <a:buNone/>
            </a:pPr>
            <a:r>
              <a:rPr lang="en-US" sz="1300" b="1" dirty="0">
                <a:solidFill>
                  <a:srgbClr val="2E7D5B"/>
                </a:solidFill>
                <a:latin typeface="Arial" pitchFamily="34" charset="0"/>
                <a:ea typeface="Arial" pitchFamily="34" charset="-122"/>
                <a:cs typeface="Arial" pitchFamily="34" charset="-120"/>
              </a:rPr>
              <a:t>≤ 15 ngày</a:t>
            </a:r>
            <a:endParaRPr lang="en-US" sz="1300" dirty="0"/>
          </a:p>
        </p:txBody>
      </p:sp>
      <p:sp>
        <p:nvSpPr>
          <p:cNvPr id="22" name="Shape 20"/>
          <p:cNvSpPr/>
          <p:nvPr/>
        </p:nvSpPr>
        <p:spPr>
          <a:xfrm>
            <a:off x="6172200" y="3108960"/>
            <a:ext cx="5349240" cy="1298448"/>
          </a:xfrm>
          <a:prstGeom prst="roundRect">
            <a:avLst>
              <a:gd name="adj" fmla="val 4225"/>
            </a:avLst>
          </a:prstGeom>
          <a:solidFill>
            <a:srgbClr val="FFFFFF"/>
          </a:solidFill>
          <a:ln/>
          <a:effectLst>
            <a:outerShdw sx="100000" sy="100000" kx="0" ky="0" algn="bl" rotWithShape="0" blurRad="127000" dist="12700" dir="5400000">
              <a:srgbClr val="21135F">
                <a:alpha val="10000"/>
              </a:srgbClr>
            </a:outerShdw>
          </a:effectLst>
        </p:spPr>
      </p:sp>
      <p:sp>
        <p:nvSpPr>
          <p:cNvPr id="23" name="Shape 21"/>
          <p:cNvSpPr/>
          <p:nvPr/>
        </p:nvSpPr>
        <p:spPr>
          <a:xfrm>
            <a:off x="6400800" y="3493008"/>
            <a:ext cx="512064" cy="512064"/>
          </a:xfrm>
          <a:prstGeom prst="ellipse">
            <a:avLst/>
          </a:prstGeom>
          <a:solidFill>
            <a:srgbClr val="5E067C"/>
          </a:solidFill>
          <a:ln/>
        </p:spPr>
      </p:sp>
      <p:sp>
        <p:nvSpPr>
          <p:cNvPr id="24" name="Text 22"/>
          <p:cNvSpPr txBox="1"/>
          <p:nvPr/>
        </p:nvSpPr>
        <p:spPr>
          <a:xfrm>
            <a:off x="6400800" y="3575304"/>
            <a:ext cx="512064"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txBox="1"/>
          <p:nvPr/>
        </p:nvSpPr>
        <p:spPr>
          <a:xfrm>
            <a:off x="7086600" y="3291840"/>
            <a:ext cx="3017520" cy="329184"/>
          </a:xfrm>
          <a:prstGeom prst="rect">
            <a:avLst/>
          </a:prstGeom>
          <a:noFill/>
          <a:ln/>
        </p:spPr>
        <p:txBody>
          <a:bodyPr wrap="square" lIns="0" tIns="0" rIns="0" bIns="0" rtlCol="0" anchor="ctr"/>
          <a:lstStyle/>
          <a:p>
            <a:pPr indent="0" marL="0">
              <a:buNone/>
            </a:pPr>
            <a:r>
              <a:rPr lang="en-US" sz="1400" b="1" dirty="0">
                <a:solidFill>
                  <a:srgbClr val="1A0F4A"/>
                </a:solidFill>
                <a:latin typeface="Arial" pitchFamily="34" charset="0"/>
                <a:ea typeface="Arial" pitchFamily="34" charset="-122"/>
                <a:cs typeface="Arial" pitchFamily="34" charset="-120"/>
              </a:rPr>
              <a:t>NOI mỗi toà</a:t>
            </a:r>
            <a:endParaRPr lang="en-US" sz="1400" dirty="0"/>
          </a:p>
        </p:txBody>
      </p:sp>
      <p:sp>
        <p:nvSpPr>
          <p:cNvPr id="26" name="Text 24"/>
          <p:cNvSpPr txBox="1"/>
          <p:nvPr/>
        </p:nvSpPr>
        <p:spPr>
          <a:xfrm>
            <a:off x="7086600" y="3639312"/>
            <a:ext cx="4114800" cy="640080"/>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Doanh thu − chi phí trực tiếp, tính riêng từng toà</a:t>
            </a:r>
            <a:endParaRPr lang="en-US" sz="1100" dirty="0"/>
          </a:p>
        </p:txBody>
      </p:sp>
      <p:sp>
        <p:nvSpPr>
          <p:cNvPr id="27" name="Text 25"/>
          <p:cNvSpPr txBox="1"/>
          <p:nvPr/>
        </p:nvSpPr>
        <p:spPr>
          <a:xfrm>
            <a:off x="10149840" y="3273552"/>
            <a:ext cx="1143000" cy="329184"/>
          </a:xfrm>
          <a:prstGeom prst="rect">
            <a:avLst/>
          </a:prstGeom>
          <a:noFill/>
          <a:ln/>
        </p:spPr>
        <p:txBody>
          <a:bodyPr wrap="square" lIns="0" tIns="0" rIns="0" bIns="0" rtlCol="0" anchor="ctr"/>
          <a:lstStyle/>
          <a:p>
            <a:pPr algn="r" indent="0" marL="0">
              <a:buNone/>
            </a:pPr>
            <a:r>
              <a:rPr lang="en-US" sz="1300" b="1" dirty="0">
                <a:solidFill>
                  <a:srgbClr val="2E7D5B"/>
                </a:solidFill>
                <a:latin typeface="Arial" pitchFamily="34" charset="0"/>
                <a:ea typeface="Arial" pitchFamily="34" charset="-122"/>
                <a:cs typeface="Arial" pitchFamily="34" charset="-120"/>
              </a:rPr>
              <a:t>Dương cả 8 toà</a:t>
            </a:r>
            <a:endParaRPr lang="en-US" sz="1300" dirty="0"/>
          </a:p>
        </p:txBody>
      </p:sp>
      <p:sp>
        <p:nvSpPr>
          <p:cNvPr id="28" name="Text 26"/>
          <p:cNvSpPr txBox="1"/>
          <p:nvPr/>
        </p:nvSpPr>
        <p:spPr>
          <a:xfrm>
            <a:off x="640080" y="4709160"/>
            <a:ext cx="10881360" cy="274320"/>
          </a:xfrm>
          <a:prstGeom prst="rect">
            <a:avLst/>
          </a:prstGeom>
          <a:noFill/>
          <a:ln/>
        </p:spPr>
        <p:txBody>
          <a:bodyPr wrap="square" rtlCol="0" anchor="ctr"/>
          <a:lstStyle/>
          <a:p>
            <a:pPr indent="0" marL="0">
              <a:buNone/>
            </a:pPr>
            <a:r>
              <a:rPr lang="en-US" sz="1100" b="1" spc="180" kern="0" dirty="0">
                <a:solidFill>
                  <a:srgbClr val="5E067C"/>
                </a:solidFill>
                <a:latin typeface="Arial" pitchFamily="34" charset="0"/>
                <a:ea typeface="Arial" pitchFamily="34" charset="-122"/>
                <a:cs typeface="Arial" pitchFamily="34" charset="-120"/>
              </a:rPr>
              <a:t>NHỊP NỘP</a:t>
            </a:r>
            <a:endParaRPr lang="en-US" sz="1100" dirty="0"/>
          </a:p>
        </p:txBody>
      </p:sp>
      <p:sp>
        <p:nvSpPr>
          <p:cNvPr id="29" name="Shape 27"/>
          <p:cNvSpPr/>
          <p:nvPr/>
        </p:nvSpPr>
        <p:spPr>
          <a:xfrm>
            <a:off x="640080" y="502920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0" name="Text 28"/>
          <p:cNvSpPr txBox="1"/>
          <p:nvPr/>
        </p:nvSpPr>
        <p:spPr>
          <a:xfrm>
            <a:off x="868680" y="5166360"/>
            <a:ext cx="2148840" cy="292608"/>
          </a:xfrm>
          <a:prstGeom prst="rect">
            <a:avLst/>
          </a:prstGeom>
          <a:noFill/>
          <a:ln/>
        </p:spPr>
        <p:txBody>
          <a:bodyPr wrap="square" lIns="0" tIns="0" rIns="0" bIns="0" rtlCol="0" anchor="ctr"/>
          <a:lstStyle/>
          <a:p>
            <a:pPr indent="0" marL="0">
              <a:buNone/>
            </a:pPr>
            <a:r>
              <a:rPr lang="en-US" sz="1250" b="1" dirty="0">
                <a:solidFill>
                  <a:srgbClr val="5E067C"/>
                </a:solidFill>
                <a:latin typeface="Arial" pitchFamily="34" charset="0"/>
                <a:ea typeface="Arial" pitchFamily="34" charset="-122"/>
                <a:cs typeface="Arial" pitchFamily="34" charset="-120"/>
              </a:rPr>
              <a:t>Hằng ngày 9h</a:t>
            </a:r>
            <a:endParaRPr lang="en-US" sz="1250" dirty="0"/>
          </a:p>
        </p:txBody>
      </p:sp>
      <p:sp>
        <p:nvSpPr>
          <p:cNvPr id="31" name="Text 29"/>
          <p:cNvSpPr txBox="1"/>
          <p:nvPr/>
        </p:nvSpPr>
        <p:spPr>
          <a:xfrm>
            <a:off x="868680" y="5486400"/>
            <a:ext cx="2148840" cy="38404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Trưởng toà → nhóm cụm: 3 số</a:t>
            </a:r>
            <a:endParaRPr lang="en-US" sz="1100" dirty="0"/>
          </a:p>
        </p:txBody>
      </p:sp>
      <p:sp>
        <p:nvSpPr>
          <p:cNvPr id="32" name="Shape 30"/>
          <p:cNvSpPr/>
          <p:nvPr/>
        </p:nvSpPr>
        <p:spPr>
          <a:xfrm>
            <a:off x="3429000" y="502920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3" name="Text 31"/>
          <p:cNvSpPr txBox="1"/>
          <p:nvPr/>
        </p:nvSpPr>
        <p:spPr>
          <a:xfrm>
            <a:off x="3657600" y="5166360"/>
            <a:ext cx="2148840" cy="292608"/>
          </a:xfrm>
          <a:prstGeom prst="rect">
            <a:avLst/>
          </a:prstGeom>
          <a:noFill/>
          <a:ln/>
        </p:spPr>
        <p:txBody>
          <a:bodyPr wrap="square" lIns="0" tIns="0" rIns="0" bIns="0" rtlCol="0" anchor="ctr"/>
          <a:lstStyle/>
          <a:p>
            <a:pPr indent="0" marL="0">
              <a:buNone/>
            </a:pPr>
            <a:r>
              <a:rPr lang="en-US" sz="1250" b="1" dirty="0">
                <a:solidFill>
                  <a:srgbClr val="5E067C"/>
                </a:solidFill>
                <a:latin typeface="Arial" pitchFamily="34" charset="0"/>
                <a:ea typeface="Arial" pitchFamily="34" charset="-122"/>
                <a:cs typeface="Arial" pitchFamily="34" charset="-120"/>
              </a:rPr>
              <a:t>Thứ Hai 10h</a:t>
            </a:r>
            <a:endParaRPr lang="en-US" sz="1250" dirty="0"/>
          </a:p>
        </p:txBody>
      </p:sp>
      <p:sp>
        <p:nvSpPr>
          <p:cNvPr id="34" name="Text 32"/>
          <p:cNvSpPr txBox="1"/>
          <p:nvPr/>
        </p:nvSpPr>
        <p:spPr>
          <a:xfrm>
            <a:off x="3657600" y="5486400"/>
            <a:ext cx="2148840" cy="38404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Trưởng toà → Quản lý cụm: bảng phòng</a:t>
            </a:r>
            <a:endParaRPr lang="en-US" sz="1100" dirty="0"/>
          </a:p>
        </p:txBody>
      </p:sp>
      <p:sp>
        <p:nvSpPr>
          <p:cNvPr id="35" name="Shape 33"/>
          <p:cNvSpPr/>
          <p:nvPr/>
        </p:nvSpPr>
        <p:spPr>
          <a:xfrm>
            <a:off x="6217920" y="502920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6" name="Text 34"/>
          <p:cNvSpPr txBox="1"/>
          <p:nvPr/>
        </p:nvSpPr>
        <p:spPr>
          <a:xfrm>
            <a:off x="6446520" y="5166360"/>
            <a:ext cx="2148840" cy="292608"/>
          </a:xfrm>
          <a:prstGeom prst="rect">
            <a:avLst/>
          </a:prstGeom>
          <a:noFill/>
          <a:ln/>
        </p:spPr>
        <p:txBody>
          <a:bodyPr wrap="square" lIns="0" tIns="0" rIns="0" bIns="0" rtlCol="0" anchor="ctr"/>
          <a:lstStyle/>
          <a:p>
            <a:pPr indent="0" marL="0">
              <a:buNone/>
            </a:pPr>
            <a:r>
              <a:rPr lang="en-US" sz="1250" b="1" dirty="0">
                <a:solidFill>
                  <a:srgbClr val="5E067C"/>
                </a:solidFill>
                <a:latin typeface="Arial" pitchFamily="34" charset="0"/>
                <a:ea typeface="Arial" pitchFamily="34" charset="-122"/>
                <a:cs typeface="Arial" pitchFamily="34" charset="-120"/>
              </a:rPr>
              <a:t>Ngày 1 và 15</a:t>
            </a:r>
            <a:endParaRPr lang="en-US" sz="1250" dirty="0"/>
          </a:p>
        </p:txBody>
      </p:sp>
      <p:sp>
        <p:nvSpPr>
          <p:cNvPr id="37" name="Text 35"/>
          <p:cNvSpPr txBox="1"/>
          <p:nvPr/>
        </p:nvSpPr>
        <p:spPr>
          <a:xfrm>
            <a:off x="6446520" y="5486400"/>
            <a:ext cx="2148840" cy="38404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Quản lý cụm → GĐ Vận hành: 4 chỉ số</a:t>
            </a:r>
            <a:endParaRPr lang="en-US" sz="1100" dirty="0"/>
          </a:p>
        </p:txBody>
      </p:sp>
      <p:sp>
        <p:nvSpPr>
          <p:cNvPr id="38" name="Shape 36"/>
          <p:cNvSpPr/>
          <p:nvPr/>
        </p:nvSpPr>
        <p:spPr>
          <a:xfrm>
            <a:off x="9006840" y="5029200"/>
            <a:ext cx="2606040" cy="960120"/>
          </a:xfrm>
          <a:prstGeom prst="roundRect">
            <a:avLst>
              <a:gd name="adj" fmla="val 5714"/>
            </a:avLst>
          </a:prstGeom>
          <a:solidFill>
            <a:srgbClr val="FFFFFF"/>
          </a:solidFill>
          <a:ln/>
          <a:effectLst>
            <a:outerShdw sx="100000" sy="100000" kx="0" ky="0" algn="bl" rotWithShape="0" blurRad="127000" dist="12700" dir="5400000">
              <a:srgbClr val="21135F">
                <a:alpha val="10000"/>
              </a:srgbClr>
            </a:outerShdw>
          </a:effectLst>
        </p:spPr>
      </p:sp>
      <p:sp>
        <p:nvSpPr>
          <p:cNvPr id="39" name="Text 37"/>
          <p:cNvSpPr txBox="1"/>
          <p:nvPr/>
        </p:nvSpPr>
        <p:spPr>
          <a:xfrm>
            <a:off x="9235440" y="5166360"/>
            <a:ext cx="2148840" cy="292608"/>
          </a:xfrm>
          <a:prstGeom prst="rect">
            <a:avLst/>
          </a:prstGeom>
          <a:noFill/>
          <a:ln/>
        </p:spPr>
        <p:txBody>
          <a:bodyPr wrap="square" lIns="0" tIns="0" rIns="0" bIns="0" rtlCol="0" anchor="ctr"/>
          <a:lstStyle/>
          <a:p>
            <a:pPr indent="0" marL="0">
              <a:buNone/>
            </a:pPr>
            <a:r>
              <a:rPr lang="en-US" sz="1250" b="1" dirty="0">
                <a:solidFill>
                  <a:srgbClr val="5E067C"/>
                </a:solidFill>
                <a:latin typeface="Arial" pitchFamily="34" charset="0"/>
                <a:ea typeface="Arial" pitchFamily="34" charset="-122"/>
                <a:cs typeface="Arial" pitchFamily="34" charset="-120"/>
              </a:rPr>
              <a:t>Ngày 3 hằng tháng</a:t>
            </a:r>
            <a:endParaRPr lang="en-US" sz="1250" dirty="0"/>
          </a:p>
        </p:txBody>
      </p:sp>
      <p:sp>
        <p:nvSpPr>
          <p:cNvPr id="40" name="Text 38"/>
          <p:cNvSpPr txBox="1"/>
          <p:nvPr/>
        </p:nvSpPr>
        <p:spPr>
          <a:xfrm>
            <a:off x="9235440" y="5486400"/>
            <a:ext cx="2148840" cy="384048"/>
          </a:xfrm>
          <a:prstGeom prst="rect">
            <a:avLst/>
          </a:prstGeom>
          <a:noFill/>
          <a:ln/>
        </p:spPr>
        <p:txBody>
          <a:bodyPr wrap="square" lIns="0" tIns="0" rIns="0" bIns="0" rtlCol="0" anchor="ctr"/>
          <a:lstStyle/>
          <a:p>
            <a:pPr indent="0" marL="0">
              <a:buNone/>
            </a:pPr>
            <a:r>
              <a:rPr lang="en-US" sz="1100" dirty="0">
                <a:solidFill>
                  <a:srgbClr val="6B5E85"/>
                </a:solidFill>
                <a:latin typeface="Arial" pitchFamily="34" charset="0"/>
                <a:ea typeface="Arial" pitchFamily="34" charset="-122"/>
                <a:cs typeface="Arial" pitchFamily="34" charset="-120"/>
              </a:rPr>
              <a:t>GĐ Vận hành → anh Toàn: 1 trang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135F"/>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274320"/>
          </a:xfrm>
          <a:prstGeom prst="rect">
            <a:avLst/>
          </a:prstGeom>
          <a:noFill/>
          <a:ln/>
        </p:spPr>
        <p:txBody>
          <a:bodyPr wrap="square" rtlCol="0" anchor="ctr"/>
          <a:lstStyle/>
          <a:p>
            <a:pPr indent="0" marL="0">
              <a:buNone/>
            </a:pPr>
            <a:r>
              <a:rPr lang="en-US" sz="1100" b="1" spc="250" kern="0" dirty="0">
                <a:solidFill>
                  <a:srgbClr val="F0E0BA"/>
                </a:solidFill>
                <a:latin typeface="Arial" pitchFamily="34" charset="0"/>
                <a:ea typeface="Arial" pitchFamily="34" charset="-122"/>
                <a:cs typeface="Arial" pitchFamily="34" charset="-120"/>
              </a:rPr>
              <a:t>GIAO NGAY TRONG BUỔI HỌP</a:t>
            </a:r>
            <a:endParaRPr lang="en-US" sz="1100" dirty="0"/>
          </a:p>
        </p:txBody>
      </p:sp>
      <p:sp>
        <p:nvSpPr>
          <p:cNvPr id="3" name="Text 1"/>
          <p:cNvSpPr txBox="1"/>
          <p:nvPr/>
        </p:nvSpPr>
        <p:spPr>
          <a:xfrm>
            <a:off x="731520" y="1005840"/>
            <a:ext cx="1069848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Việc của sáng nay</a:t>
            </a:r>
            <a:endParaRPr lang="en-US" sz="4000" dirty="0"/>
          </a:p>
        </p:txBody>
      </p:sp>
      <p:sp>
        <p:nvSpPr>
          <p:cNvPr id="4" name="Shape 2"/>
          <p:cNvSpPr/>
          <p:nvPr/>
        </p:nvSpPr>
        <p:spPr>
          <a:xfrm>
            <a:off x="731520" y="1965960"/>
            <a:ext cx="10698480" cy="566928"/>
          </a:xfrm>
          <a:prstGeom prst="roundRect">
            <a:avLst>
              <a:gd name="adj" fmla="val 8065"/>
            </a:avLst>
          </a:prstGeom>
          <a:solidFill>
            <a:srgbClr val="2E1F63"/>
          </a:solidFill>
          <a:ln/>
        </p:spPr>
      </p:sp>
      <p:sp>
        <p:nvSpPr>
          <p:cNvPr id="5" name="Text 3"/>
          <p:cNvSpPr txBox="1"/>
          <p:nvPr/>
        </p:nvSpPr>
        <p:spPr>
          <a:xfrm>
            <a:off x="1005840" y="213969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Toàn bộ quản lý</a:t>
            </a:r>
            <a:endParaRPr lang="en-US" sz="1300" dirty="0"/>
          </a:p>
        </p:txBody>
      </p:sp>
      <p:sp>
        <p:nvSpPr>
          <p:cNvPr id="6" name="Text 4"/>
          <p:cNvSpPr txBox="1"/>
          <p:nvPr/>
        </p:nvSpPr>
        <p:spPr>
          <a:xfrm>
            <a:off x="3566160" y="213969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Trong buổi họp</a:t>
            </a:r>
            <a:endParaRPr lang="en-US" sz="1200" dirty="0"/>
          </a:p>
        </p:txBody>
      </p:sp>
      <p:sp>
        <p:nvSpPr>
          <p:cNvPr id="7" name="Text 5"/>
          <p:cNvSpPr txBox="1"/>
          <p:nvPr/>
        </p:nvSpPr>
        <p:spPr>
          <a:xfrm>
            <a:off x="5760720" y="209397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Thống nhất 4 chỉ số. Xác nhận Trưởng toà cho từng toà trong 8 toà.</a:t>
            </a:r>
            <a:endParaRPr lang="en-US" sz="1200" dirty="0"/>
          </a:p>
        </p:txBody>
      </p:sp>
      <p:sp>
        <p:nvSpPr>
          <p:cNvPr id="8" name="Shape 6"/>
          <p:cNvSpPr/>
          <p:nvPr/>
        </p:nvSpPr>
        <p:spPr>
          <a:xfrm>
            <a:off x="731520" y="2606040"/>
            <a:ext cx="10698480" cy="566928"/>
          </a:xfrm>
          <a:prstGeom prst="roundRect">
            <a:avLst>
              <a:gd name="adj" fmla="val 8065"/>
            </a:avLst>
          </a:prstGeom>
          <a:solidFill>
            <a:srgbClr val="2E1F63"/>
          </a:solidFill>
          <a:ln/>
        </p:spPr>
      </p:sp>
      <p:sp>
        <p:nvSpPr>
          <p:cNvPr id="9" name="Text 7"/>
          <p:cNvSpPr txBox="1"/>
          <p:nvPr/>
        </p:nvSpPr>
        <p:spPr>
          <a:xfrm>
            <a:off x="1005840" y="277977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Mỗi Trưởng toà</a:t>
            </a:r>
            <a:endParaRPr lang="en-US" sz="1300" dirty="0"/>
          </a:p>
        </p:txBody>
      </p:sp>
      <p:sp>
        <p:nvSpPr>
          <p:cNvPr id="10" name="Text 8"/>
          <p:cNvSpPr txBox="1"/>
          <p:nvPr/>
        </p:nvSpPr>
        <p:spPr>
          <a:xfrm>
            <a:off x="3566160" y="277977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17/09 — 3 ngày</a:t>
            </a:r>
            <a:endParaRPr lang="en-US" sz="1200" dirty="0"/>
          </a:p>
        </p:txBody>
      </p:sp>
      <p:sp>
        <p:nvSpPr>
          <p:cNvPr id="11" name="Text 9"/>
          <p:cNvSpPr txBox="1"/>
          <p:nvPr/>
        </p:nvSpPr>
        <p:spPr>
          <a:xfrm>
            <a:off x="5760720" y="273405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Phân loại toàn bộ phòng trống vào nhóm A/B/C/D. Việc này chặn tất cả việc khác.</a:t>
            </a:r>
            <a:endParaRPr lang="en-US" sz="1200" dirty="0"/>
          </a:p>
        </p:txBody>
      </p:sp>
      <p:sp>
        <p:nvSpPr>
          <p:cNvPr id="12" name="Shape 10"/>
          <p:cNvSpPr/>
          <p:nvPr/>
        </p:nvSpPr>
        <p:spPr>
          <a:xfrm>
            <a:off x="731520" y="3246120"/>
            <a:ext cx="10698480" cy="566928"/>
          </a:xfrm>
          <a:prstGeom prst="roundRect">
            <a:avLst>
              <a:gd name="adj" fmla="val 8065"/>
            </a:avLst>
          </a:prstGeom>
          <a:solidFill>
            <a:srgbClr val="2E1F63"/>
          </a:solidFill>
          <a:ln/>
        </p:spPr>
      </p:sp>
      <p:sp>
        <p:nvSpPr>
          <p:cNvPr id="13" name="Text 11"/>
          <p:cNvSpPr txBox="1"/>
          <p:nvPr/>
        </p:nvSpPr>
        <p:spPr>
          <a:xfrm>
            <a:off x="1005840" y="341985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Trưởng cụm Tân Phú</a:t>
            </a:r>
            <a:endParaRPr lang="en-US" sz="1300" dirty="0"/>
          </a:p>
        </p:txBody>
      </p:sp>
      <p:sp>
        <p:nvSpPr>
          <p:cNvPr id="14" name="Text 12"/>
          <p:cNvSpPr txBox="1"/>
          <p:nvPr/>
        </p:nvSpPr>
        <p:spPr>
          <a:xfrm>
            <a:off x="3566160" y="341985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21/09 — 7 ngày</a:t>
            </a:r>
            <a:endParaRPr lang="en-US" sz="1200" dirty="0"/>
          </a:p>
        </p:txBody>
      </p:sp>
      <p:sp>
        <p:nvSpPr>
          <p:cNvPr id="15" name="Text 13"/>
          <p:cNvSpPr txBox="1"/>
          <p:nvPr/>
        </p:nvSpPr>
        <p:spPr>
          <a:xfrm>
            <a:off x="5760720" y="337413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Chốt số phòng thật của Đỗ Thừa Luông — hồ sơ đang thiếu.</a:t>
            </a:r>
            <a:endParaRPr lang="en-US" sz="1200" dirty="0"/>
          </a:p>
        </p:txBody>
      </p:sp>
      <p:sp>
        <p:nvSpPr>
          <p:cNvPr id="16" name="Shape 14"/>
          <p:cNvSpPr/>
          <p:nvPr/>
        </p:nvSpPr>
        <p:spPr>
          <a:xfrm>
            <a:off x="731520" y="3886200"/>
            <a:ext cx="10698480" cy="566928"/>
          </a:xfrm>
          <a:prstGeom prst="roundRect">
            <a:avLst>
              <a:gd name="adj" fmla="val 8065"/>
            </a:avLst>
          </a:prstGeom>
          <a:solidFill>
            <a:srgbClr val="2E1F63"/>
          </a:solidFill>
          <a:ln/>
        </p:spPr>
      </p:sp>
      <p:sp>
        <p:nvSpPr>
          <p:cNvPr id="17" name="Text 15"/>
          <p:cNvSpPr txBox="1"/>
          <p:nvPr/>
        </p:nvSpPr>
        <p:spPr>
          <a:xfrm>
            <a:off x="1005840" y="405993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Đơn vị vận hành</a:t>
            </a:r>
            <a:endParaRPr lang="en-US" sz="1300" dirty="0"/>
          </a:p>
        </p:txBody>
      </p:sp>
      <p:sp>
        <p:nvSpPr>
          <p:cNvPr id="18" name="Text 16"/>
          <p:cNvSpPr txBox="1"/>
          <p:nvPr/>
        </p:nvSpPr>
        <p:spPr>
          <a:xfrm>
            <a:off x="3566160" y="405993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21/09 — 7 ngày</a:t>
            </a:r>
            <a:endParaRPr lang="en-US" sz="1200" dirty="0"/>
          </a:p>
        </p:txBody>
      </p:sp>
      <p:sp>
        <p:nvSpPr>
          <p:cNvPr id="19" name="Text 17"/>
          <p:cNvSpPr txBox="1"/>
          <p:nvPr/>
        </p:nvSpPr>
        <p:spPr>
          <a:xfrm>
            <a:off x="5760720" y="401421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Dựng bảng 4 chỉ số cho 8 toà, lấy tháng 8 làm mốc gốc.</a:t>
            </a:r>
            <a:endParaRPr lang="en-US" sz="1200" dirty="0"/>
          </a:p>
        </p:txBody>
      </p:sp>
      <p:sp>
        <p:nvSpPr>
          <p:cNvPr id="20" name="Shape 18"/>
          <p:cNvSpPr/>
          <p:nvPr/>
        </p:nvSpPr>
        <p:spPr>
          <a:xfrm>
            <a:off x="731520" y="4526280"/>
            <a:ext cx="10698480" cy="566928"/>
          </a:xfrm>
          <a:prstGeom prst="roundRect">
            <a:avLst>
              <a:gd name="adj" fmla="val 8065"/>
            </a:avLst>
          </a:prstGeom>
          <a:solidFill>
            <a:srgbClr val="2E1F63"/>
          </a:solidFill>
          <a:ln/>
        </p:spPr>
      </p:sp>
      <p:sp>
        <p:nvSpPr>
          <p:cNvPr id="21" name="Text 19"/>
          <p:cNvSpPr txBox="1"/>
          <p:nvPr/>
        </p:nvSpPr>
        <p:spPr>
          <a:xfrm>
            <a:off x="1005840" y="470001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Marketing</a:t>
            </a:r>
            <a:endParaRPr lang="en-US" sz="1300" dirty="0"/>
          </a:p>
        </p:txBody>
      </p:sp>
      <p:sp>
        <p:nvSpPr>
          <p:cNvPr id="22" name="Text 20"/>
          <p:cNvSpPr txBox="1"/>
          <p:nvPr/>
        </p:nvSpPr>
        <p:spPr>
          <a:xfrm>
            <a:off x="3566160" y="470001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28/09 — 14 ngày</a:t>
            </a:r>
            <a:endParaRPr lang="en-US" sz="1200" dirty="0"/>
          </a:p>
        </p:txBody>
      </p:sp>
      <p:sp>
        <p:nvSpPr>
          <p:cNvPr id="23" name="Text 21"/>
          <p:cNvSpPr txBox="1"/>
          <p:nvPr/>
        </p:nvSpPr>
        <p:spPr>
          <a:xfrm>
            <a:off x="5760720" y="465429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Landing page mỗi toà một trang, mỗi trang một số điện thoại riêng.</a:t>
            </a:r>
            <a:endParaRPr lang="en-US" sz="1200" dirty="0"/>
          </a:p>
        </p:txBody>
      </p:sp>
      <p:sp>
        <p:nvSpPr>
          <p:cNvPr id="24" name="Shape 22"/>
          <p:cNvSpPr/>
          <p:nvPr/>
        </p:nvSpPr>
        <p:spPr>
          <a:xfrm>
            <a:off x="731520" y="5166360"/>
            <a:ext cx="10698480" cy="566928"/>
          </a:xfrm>
          <a:prstGeom prst="roundRect">
            <a:avLst>
              <a:gd name="adj" fmla="val 8065"/>
            </a:avLst>
          </a:prstGeom>
          <a:solidFill>
            <a:srgbClr val="2E1F63"/>
          </a:solidFill>
          <a:ln/>
        </p:spPr>
      </p:sp>
      <p:sp>
        <p:nvSpPr>
          <p:cNvPr id="25" name="Text 23"/>
          <p:cNvSpPr txBox="1"/>
          <p:nvPr/>
        </p:nvSpPr>
        <p:spPr>
          <a:xfrm>
            <a:off x="1005840" y="5340096"/>
            <a:ext cx="246888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GĐ Vận hành</a:t>
            </a:r>
            <a:endParaRPr lang="en-US" sz="1300" dirty="0"/>
          </a:p>
        </p:txBody>
      </p:sp>
      <p:sp>
        <p:nvSpPr>
          <p:cNvPr id="26" name="Text 24"/>
          <p:cNvSpPr txBox="1"/>
          <p:nvPr/>
        </p:nvSpPr>
        <p:spPr>
          <a:xfrm>
            <a:off x="3566160" y="5340096"/>
            <a:ext cx="2103120" cy="310896"/>
          </a:xfrm>
          <a:prstGeom prst="rect">
            <a:avLst/>
          </a:prstGeom>
          <a:noFill/>
          <a:ln/>
        </p:spPr>
        <p:txBody>
          <a:bodyPr wrap="square" lIns="0" tIns="0" rIns="0" bIns="0" rtlCol="0" anchor="ctr"/>
          <a:lstStyle/>
          <a:p>
            <a:pPr indent="0" marL="0">
              <a:buNone/>
            </a:pPr>
            <a:r>
              <a:rPr lang="en-US" sz="1200" b="1" dirty="0">
                <a:solidFill>
                  <a:srgbClr val="D4A856"/>
                </a:solidFill>
                <a:latin typeface="Arial" pitchFamily="34" charset="0"/>
                <a:ea typeface="Arial" pitchFamily="34" charset="-122"/>
                <a:cs typeface="Arial" pitchFamily="34" charset="-120"/>
              </a:rPr>
              <a:t>03/10 — báo cáo đầu tiên</a:t>
            </a:r>
            <a:endParaRPr lang="en-US" sz="1200" dirty="0"/>
          </a:p>
        </p:txBody>
      </p:sp>
      <p:sp>
        <p:nvSpPr>
          <p:cNvPr id="27" name="Text 25"/>
          <p:cNvSpPr txBox="1"/>
          <p:nvPr/>
        </p:nvSpPr>
        <p:spPr>
          <a:xfrm>
            <a:off x="5760720" y="5294376"/>
            <a:ext cx="5394960" cy="310896"/>
          </a:xfrm>
          <a:prstGeom prst="rect">
            <a:avLst/>
          </a:prstGeom>
          <a:noFill/>
          <a:ln/>
        </p:spPr>
        <p:txBody>
          <a:bodyPr wrap="square" lIns="0" tIns="0" rIns="0" bIns="0" rtlCol="0" anchor="ctr"/>
          <a:lstStyle/>
          <a:p>
            <a:pPr indent="0" marL="0">
              <a:buNone/>
            </a:pPr>
            <a:r>
              <a:rPr lang="en-US" sz="1200" dirty="0">
                <a:solidFill>
                  <a:srgbClr val="BFB2D8"/>
                </a:solidFill>
                <a:latin typeface="Arial" pitchFamily="34" charset="0"/>
                <a:ea typeface="Arial" pitchFamily="34" charset="-122"/>
                <a:cs typeface="Arial" pitchFamily="34" charset="-120"/>
              </a:rPr>
              <a:t>Chốt số kỳ đầu và đối chiếu với mục tiêu trong file Excel.</a:t>
            </a:r>
            <a:endParaRPr lang="en-US" sz="1200" dirty="0"/>
          </a:p>
        </p:txBody>
      </p:sp>
      <p:sp>
        <p:nvSpPr>
          <p:cNvPr id="28" name="Text 26"/>
          <p:cNvSpPr txBox="1"/>
          <p:nvPr/>
        </p:nvSpPr>
        <p:spPr>
          <a:xfrm>
            <a:off x="731520" y="5870448"/>
            <a:ext cx="10698480" cy="438912"/>
          </a:xfrm>
          <a:prstGeom prst="rect">
            <a:avLst/>
          </a:prstGeom>
          <a:noFill/>
          <a:ln/>
        </p:spPr>
        <p:txBody>
          <a:bodyPr wrap="square" rtlCol="0" anchor="ctr"/>
          <a:lstStyle/>
          <a:p>
            <a:pPr indent="0" marL="0">
              <a:buNone/>
            </a:pPr>
            <a:r>
              <a:rPr lang="en-US" sz="1900" i="1" dirty="0">
                <a:solidFill>
                  <a:srgbClr val="D4A856"/>
                </a:solidFill>
                <a:latin typeface="Cambria" pitchFamily="34" charset="0"/>
                <a:ea typeface="Cambria" pitchFamily="34" charset="-122"/>
                <a:cs typeface="Cambria" pitchFamily="34" charset="-120"/>
              </a:rPr>
              <a:t>Hỏi về bằng chứng, đừng hỏi về kết quả.</a:t>
            </a:r>
            <a:endParaRPr lang="en-US" sz="1900" dirty="0"/>
          </a:p>
        </p:txBody>
      </p:sp>
      <p:sp>
        <p:nvSpPr>
          <p:cNvPr id="29" name="Text 27"/>
          <p:cNvSpPr txBox="1"/>
          <p:nvPr/>
        </p:nvSpPr>
        <p:spPr>
          <a:xfrm>
            <a:off x="731520" y="6327648"/>
            <a:ext cx="10698480" cy="329184"/>
          </a:xfrm>
          <a:prstGeom prst="rect">
            <a:avLst/>
          </a:prstGeom>
          <a:noFill/>
          <a:ln/>
        </p:spPr>
        <p:txBody>
          <a:bodyPr wrap="square" rtlCol="0" anchor="ctr"/>
          <a:lstStyle/>
          <a:p>
            <a:pPr indent="0" marL="0">
              <a:buNone/>
            </a:pPr>
            <a:r>
              <a:rPr lang="en-US" sz="1250" dirty="0">
                <a:solidFill>
                  <a:srgbClr val="BFB2D8"/>
                </a:solidFill>
                <a:latin typeface="Arial" pitchFamily="34" charset="0"/>
                <a:ea typeface="Arial" pitchFamily="34" charset="-122"/>
                <a:cs typeface="Arial" pitchFamily="34" charset="-120"/>
              </a:rPr>
              <a:t>Hỏi kết quả thì nhận được lời giải thích. Hỏi bằng chứng thì nhận được sự thật.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2026-09-14T01:08:47Z</dcterms:created>
  <dcterms:modified xsi:type="dcterms:W3CDTF">2026-09-14T01:08:47Z</dcterms:modified>
</cp:coreProperties>
</file>